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5143500" cx="9144000"/>
  <p:notesSz cx="6858000" cy="9144000"/>
  <p:embeddedFontLst>
    <p:embeddedFont>
      <p:font typeface="Roboto"/>
      <p:regular r:id="rId32"/>
      <p:bold r:id="rId33"/>
      <p:italic r:id="rId34"/>
      <p:boldItalic r:id="rId35"/>
    </p:embeddedFont>
    <p:embeddedFont>
      <p:font typeface="Roboto Mono"/>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F97E986-E154-4EDB-AE63-72809A1A8B18}">
  <a:tblStyle styleId="{2F97E986-E154-4EDB-AE63-72809A1A8B1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Roboto-bold.fntdata"/><Relationship Id="rId10" Type="http://schemas.openxmlformats.org/officeDocument/2006/relationships/slide" Target="slides/slide3.xml"/><Relationship Id="rId32" Type="http://schemas.openxmlformats.org/officeDocument/2006/relationships/font" Target="fonts/Roboto-regular.fntdata"/><Relationship Id="rId13" Type="http://schemas.openxmlformats.org/officeDocument/2006/relationships/slide" Target="slides/slide6.xml"/><Relationship Id="rId35" Type="http://schemas.openxmlformats.org/officeDocument/2006/relationships/font" Target="fonts/Roboto-boldItalic.fntdata"/><Relationship Id="rId12" Type="http://schemas.openxmlformats.org/officeDocument/2006/relationships/slide" Target="slides/slide5.xml"/><Relationship Id="rId34" Type="http://schemas.openxmlformats.org/officeDocument/2006/relationships/font" Target="fonts/Roboto-italic.fntdata"/><Relationship Id="rId15" Type="http://schemas.openxmlformats.org/officeDocument/2006/relationships/slide" Target="slides/slide8.xml"/><Relationship Id="rId37" Type="http://schemas.openxmlformats.org/officeDocument/2006/relationships/font" Target="fonts/RobotoMono-bold.fntdata"/><Relationship Id="rId14" Type="http://schemas.openxmlformats.org/officeDocument/2006/relationships/slide" Target="slides/slide7.xml"/><Relationship Id="rId36" Type="http://schemas.openxmlformats.org/officeDocument/2006/relationships/font" Target="fonts/RobotoMono-regular.fntdata"/><Relationship Id="rId17" Type="http://schemas.openxmlformats.org/officeDocument/2006/relationships/slide" Target="slides/slide10.xml"/><Relationship Id="rId39" Type="http://schemas.openxmlformats.org/officeDocument/2006/relationships/font" Target="fonts/RobotoMono-boldItalic.fntdata"/><Relationship Id="rId16" Type="http://schemas.openxmlformats.org/officeDocument/2006/relationships/slide" Target="slides/slide9.xml"/><Relationship Id="rId38" Type="http://schemas.openxmlformats.org/officeDocument/2006/relationships/font" Target="fonts/RobotoMono-italic.fntdata"/><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9d4daae8c3_2_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9d4daae8c3_2_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9d4daae8c3_2_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d4daae8c3_2_84: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g39d4daae8c3_2_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d4daae8c3_2_90: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g39d4daae8c3_2_9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9d4daae8c3_2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g39d4daae8c3_2_19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 u="none" strike="noStrike">
                <a:solidFill>
                  <a:srgbClr val="626469"/>
                </a:solidFill>
                <a:latin typeface="Arial"/>
                <a:ea typeface="Arial"/>
                <a:cs typeface="Arial"/>
                <a:sym typeface="Arial"/>
              </a:rPr>
              <a:t>ˌkrɑːnəˈlɑːdʒɪk(ə)</a:t>
            </a:r>
            <a:endParaRPr/>
          </a:p>
        </p:txBody>
      </p:sp>
      <p:sp>
        <p:nvSpPr>
          <p:cNvPr id="154" name="Google Shape;154;g39d4daae8c3_2_19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9dd304342a_0_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g39dd304342a_0_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 u="none" strike="noStrike">
                <a:solidFill>
                  <a:srgbClr val="626469"/>
                </a:solidFill>
                <a:latin typeface="Arial"/>
                <a:ea typeface="Arial"/>
                <a:cs typeface="Arial"/>
                <a:sym typeface="Arial"/>
              </a:rPr>
              <a:t>ˌkrɑːnəˈlɑːdʒɪk(ə)</a:t>
            </a:r>
            <a:endParaRPr/>
          </a:p>
        </p:txBody>
      </p:sp>
      <p:sp>
        <p:nvSpPr>
          <p:cNvPr id="162" name="Google Shape;162;g39dd304342a_0_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9d4daae8c3_2_96: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g39d4daae8c3_2_9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fb487a691_0_1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afb487a691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d4daae8c3_2_278: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9d4daae8c3_2_2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9d4daae8c3_0_10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g39d4daae8c3_0_10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9d4daae8c3_0_11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g39d4daae8c3_0_1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d4daae8c3_0_3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9d4daae8c3_0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9d4daae8c3_2_30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9d4daae8c3_2_3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fb487a691_0_8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afb487a691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9d4daae8c3_0_9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9d4daae8c3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fb487a691_0_10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g3afb487a691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afb487a691_0_11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g3afb487a691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9d4daae8c3_2_319: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9d4daae8c3_2_3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9d4daae8c3_2_325: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g39d4daae8c3_2_3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9d4daae8c3_2_331:notes"/>
          <p:cNvSpPr txBox="1"/>
          <p:nvPr>
            <p:ph idx="1" type="body"/>
          </p:nvPr>
        </p:nvSpPr>
        <p:spPr>
          <a:xfrm>
            <a:off x="685800" y="4400550"/>
            <a:ext cx="5486400" cy="36004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g39d4daae8c3_2_3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fb487a691_0_3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g3afb487a691_0_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afb487a691_0_4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g3afb487a691_0_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fb487a691_0_58: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3afb487a691_0_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g3afb487a691_0_6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g3afb487a691_0_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39d4daae8c3_0_6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g39d4daae8c3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pic>
        <p:nvPicPr>
          <p:cNvPr descr="图片13" id="57" name="Google Shape;57;p14"/>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58" name="Google Shape;58;p14"/>
          <p:cNvSpPr txBox="1"/>
          <p:nvPr>
            <p:ph type="ctrTitle"/>
          </p:nvPr>
        </p:nvSpPr>
        <p:spPr>
          <a:xfrm>
            <a:off x="1143000" y="651566"/>
            <a:ext cx="6664569" cy="1218669"/>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9" name="Google Shape;59;p14"/>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60" name="Google Shape;60;p1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2" type="sldNum"/>
          </p:nvPr>
        </p:nvSpPr>
        <p:spPr>
          <a:xfrm>
            <a:off x="6701994"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1100" u="none" cap="none" strike="noStrike">
                <a:solidFill>
                  <a:srgbClr val="888888"/>
                </a:solidFill>
                <a:latin typeface="Arial"/>
                <a:ea typeface="Arial"/>
                <a:cs typeface="Arial"/>
                <a:sym typeface="Arial"/>
              </a:defRPr>
            </a:lvl1pPr>
            <a:lvl2pPr indent="0" lvl="1" marL="0" algn="r">
              <a:spcBef>
                <a:spcPts val="0"/>
              </a:spcBef>
              <a:buNone/>
              <a:defRPr b="0" i="0" sz="1100" u="none" cap="none" strike="noStrike">
                <a:solidFill>
                  <a:srgbClr val="888888"/>
                </a:solidFill>
                <a:latin typeface="Arial"/>
                <a:ea typeface="Arial"/>
                <a:cs typeface="Arial"/>
                <a:sym typeface="Arial"/>
              </a:defRPr>
            </a:lvl2pPr>
            <a:lvl3pPr indent="0" lvl="2" marL="0" algn="r">
              <a:spcBef>
                <a:spcPts val="0"/>
              </a:spcBef>
              <a:buNone/>
              <a:defRPr b="0" i="0" sz="1100" u="none" cap="none" strike="noStrike">
                <a:solidFill>
                  <a:srgbClr val="888888"/>
                </a:solidFill>
                <a:latin typeface="Arial"/>
                <a:ea typeface="Arial"/>
                <a:cs typeface="Arial"/>
                <a:sym typeface="Arial"/>
              </a:defRPr>
            </a:lvl3pPr>
            <a:lvl4pPr indent="0" lvl="3" marL="0" algn="r">
              <a:spcBef>
                <a:spcPts val="0"/>
              </a:spcBef>
              <a:buNone/>
              <a:defRPr b="0" i="0" sz="1100" u="none" cap="none" strike="noStrike">
                <a:solidFill>
                  <a:srgbClr val="888888"/>
                </a:solidFill>
                <a:latin typeface="Arial"/>
                <a:ea typeface="Arial"/>
                <a:cs typeface="Arial"/>
                <a:sym typeface="Arial"/>
              </a:defRPr>
            </a:lvl4pPr>
            <a:lvl5pPr indent="0" lvl="4" marL="0" algn="r">
              <a:spcBef>
                <a:spcPts val="0"/>
              </a:spcBef>
              <a:buNone/>
              <a:defRPr b="0" i="0" sz="1100" u="none" cap="none" strike="noStrike">
                <a:solidFill>
                  <a:srgbClr val="888888"/>
                </a:solidFill>
                <a:latin typeface="Arial"/>
                <a:ea typeface="Arial"/>
                <a:cs typeface="Arial"/>
                <a:sym typeface="Arial"/>
              </a:defRPr>
            </a:lvl5pPr>
            <a:lvl6pPr indent="0" lvl="5" marL="0" algn="r">
              <a:spcBef>
                <a:spcPts val="0"/>
              </a:spcBef>
              <a:buNone/>
              <a:defRPr b="0" i="0" sz="1100" u="none" cap="none" strike="noStrike">
                <a:solidFill>
                  <a:srgbClr val="888888"/>
                </a:solidFill>
                <a:latin typeface="Arial"/>
                <a:ea typeface="Arial"/>
                <a:cs typeface="Arial"/>
                <a:sym typeface="Arial"/>
              </a:defRPr>
            </a:lvl6pPr>
            <a:lvl7pPr indent="0" lvl="6" marL="0" algn="r">
              <a:spcBef>
                <a:spcPts val="0"/>
              </a:spcBef>
              <a:buNone/>
              <a:defRPr b="0" i="0" sz="1100" u="none" cap="none" strike="noStrike">
                <a:solidFill>
                  <a:srgbClr val="888888"/>
                </a:solidFill>
                <a:latin typeface="Arial"/>
                <a:ea typeface="Arial"/>
                <a:cs typeface="Arial"/>
                <a:sym typeface="Arial"/>
              </a:defRPr>
            </a:lvl7pPr>
            <a:lvl8pPr indent="0" lvl="7" marL="0" algn="r">
              <a:spcBef>
                <a:spcPts val="0"/>
              </a:spcBef>
              <a:buNone/>
              <a:defRPr b="0" i="0" sz="1100" u="none" cap="none" strike="noStrike">
                <a:solidFill>
                  <a:srgbClr val="888888"/>
                </a:solidFill>
                <a:latin typeface="Arial"/>
                <a:ea typeface="Arial"/>
                <a:cs typeface="Arial"/>
                <a:sym typeface="Arial"/>
              </a:defRPr>
            </a:lvl8pPr>
            <a:lvl9pPr indent="0" lvl="8" marL="0" algn="r">
              <a:spcBef>
                <a:spcPts val="0"/>
              </a:spcBef>
              <a:buNone/>
              <a:defRPr b="0" i="0" sz="11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62" name="Google Shape;62;p14"/>
          <p:cNvPicPr preferRelativeResize="0"/>
          <p:nvPr/>
        </p:nvPicPr>
        <p:blipFill rotWithShape="1">
          <a:blip r:embed="rId3">
            <a:alphaModFix/>
          </a:blip>
          <a:srcRect b="0" l="0" r="0" t="0"/>
          <a:stretch/>
        </p:blipFill>
        <p:spPr>
          <a:xfrm>
            <a:off x="8156420" y="81739"/>
            <a:ext cx="794149" cy="879726"/>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3" name="Shape 63"/>
        <p:cNvGrpSpPr/>
        <p:nvPr/>
      </p:nvGrpSpPr>
      <p:grpSpPr>
        <a:xfrm>
          <a:off x="0" y="0"/>
          <a:ext cx="0" cy="0"/>
          <a:chOff x="0" y="0"/>
          <a:chExt cx="0" cy="0"/>
        </a:xfrm>
      </p:grpSpPr>
      <p:sp>
        <p:nvSpPr>
          <p:cNvPr id="64" name="Google Shape;64;p15"/>
          <p:cNvSpPr txBox="1"/>
          <p:nvPr>
            <p:ph type="title"/>
          </p:nvPr>
        </p:nvSpPr>
        <p:spPr>
          <a:xfrm>
            <a:off x="544243" y="126133"/>
            <a:ext cx="7886700" cy="359203"/>
          </a:xfrm>
          <a:prstGeom prst="rect">
            <a:avLst/>
          </a:prstGeom>
          <a:noFill/>
          <a:ln>
            <a:noFill/>
          </a:ln>
        </p:spPr>
        <p:txBody>
          <a:bodyPr anchorCtr="0" anchor="ctr" bIns="34275" lIns="68575" spcFirstLastPara="1" rIns="68575" wrap="square" tIns="34275">
            <a:noAutofit/>
          </a:bodyPr>
          <a:lstStyle>
            <a:lvl1pPr lvl="0" algn="l">
              <a:lnSpc>
                <a:spcPct val="90000"/>
              </a:lnSpc>
              <a:spcBef>
                <a:spcPts val="0"/>
              </a:spcBef>
              <a:spcAft>
                <a:spcPts val="0"/>
              </a:spcAft>
              <a:buClr>
                <a:schemeClr val="dk1"/>
              </a:buClr>
              <a:buSzPts val="2400"/>
              <a:buFont typeface="Microsoft YaHei"/>
              <a:buNone/>
              <a:defRPr b="1" sz="2400">
                <a:latin typeface="Microsoft YaHei"/>
                <a:ea typeface="Microsoft YaHei"/>
                <a:cs typeface="Microsoft YaHei"/>
                <a:sym typeface="Microsoft YaHe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5" name="Google Shape;65;p15"/>
          <p:cNvSpPr txBox="1"/>
          <p:nvPr>
            <p:ph idx="1" type="body"/>
          </p:nvPr>
        </p:nvSpPr>
        <p:spPr>
          <a:xfrm>
            <a:off x="544243" y="791308"/>
            <a:ext cx="7971107" cy="384141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6" name="Google Shape;66;p15"/>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Google Shape;67;p15"/>
          <p:cNvSpPr txBox="1"/>
          <p:nvPr>
            <p:ph idx="12" type="sldNum"/>
          </p:nvPr>
        </p:nvSpPr>
        <p:spPr>
          <a:xfrm>
            <a:off x="6715602"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1100" u="none" cap="none" strike="noStrike">
                <a:solidFill>
                  <a:srgbClr val="888888"/>
                </a:solidFill>
                <a:latin typeface="Arial"/>
                <a:ea typeface="Arial"/>
                <a:cs typeface="Arial"/>
                <a:sym typeface="Arial"/>
              </a:defRPr>
            </a:lvl1pPr>
            <a:lvl2pPr indent="0" lvl="1" marL="0" algn="r">
              <a:spcBef>
                <a:spcPts val="0"/>
              </a:spcBef>
              <a:buNone/>
              <a:defRPr b="0" i="0" sz="1100" u="none" cap="none" strike="noStrike">
                <a:solidFill>
                  <a:srgbClr val="888888"/>
                </a:solidFill>
                <a:latin typeface="Arial"/>
                <a:ea typeface="Arial"/>
                <a:cs typeface="Arial"/>
                <a:sym typeface="Arial"/>
              </a:defRPr>
            </a:lvl2pPr>
            <a:lvl3pPr indent="0" lvl="2" marL="0" algn="r">
              <a:spcBef>
                <a:spcPts val="0"/>
              </a:spcBef>
              <a:buNone/>
              <a:defRPr b="0" i="0" sz="1100" u="none" cap="none" strike="noStrike">
                <a:solidFill>
                  <a:srgbClr val="888888"/>
                </a:solidFill>
                <a:latin typeface="Arial"/>
                <a:ea typeface="Arial"/>
                <a:cs typeface="Arial"/>
                <a:sym typeface="Arial"/>
              </a:defRPr>
            </a:lvl3pPr>
            <a:lvl4pPr indent="0" lvl="3" marL="0" algn="r">
              <a:spcBef>
                <a:spcPts val="0"/>
              </a:spcBef>
              <a:buNone/>
              <a:defRPr b="0" i="0" sz="1100" u="none" cap="none" strike="noStrike">
                <a:solidFill>
                  <a:srgbClr val="888888"/>
                </a:solidFill>
                <a:latin typeface="Arial"/>
                <a:ea typeface="Arial"/>
                <a:cs typeface="Arial"/>
                <a:sym typeface="Arial"/>
              </a:defRPr>
            </a:lvl4pPr>
            <a:lvl5pPr indent="0" lvl="4" marL="0" algn="r">
              <a:spcBef>
                <a:spcPts val="0"/>
              </a:spcBef>
              <a:buNone/>
              <a:defRPr b="0" i="0" sz="1100" u="none" cap="none" strike="noStrike">
                <a:solidFill>
                  <a:srgbClr val="888888"/>
                </a:solidFill>
                <a:latin typeface="Arial"/>
                <a:ea typeface="Arial"/>
                <a:cs typeface="Arial"/>
                <a:sym typeface="Arial"/>
              </a:defRPr>
            </a:lvl5pPr>
            <a:lvl6pPr indent="0" lvl="5" marL="0" algn="r">
              <a:spcBef>
                <a:spcPts val="0"/>
              </a:spcBef>
              <a:buNone/>
              <a:defRPr b="0" i="0" sz="1100" u="none" cap="none" strike="noStrike">
                <a:solidFill>
                  <a:srgbClr val="888888"/>
                </a:solidFill>
                <a:latin typeface="Arial"/>
                <a:ea typeface="Arial"/>
                <a:cs typeface="Arial"/>
                <a:sym typeface="Arial"/>
              </a:defRPr>
            </a:lvl6pPr>
            <a:lvl7pPr indent="0" lvl="6" marL="0" algn="r">
              <a:spcBef>
                <a:spcPts val="0"/>
              </a:spcBef>
              <a:buNone/>
              <a:defRPr b="0" i="0" sz="1100" u="none" cap="none" strike="noStrike">
                <a:solidFill>
                  <a:srgbClr val="888888"/>
                </a:solidFill>
                <a:latin typeface="Arial"/>
                <a:ea typeface="Arial"/>
                <a:cs typeface="Arial"/>
                <a:sym typeface="Arial"/>
              </a:defRPr>
            </a:lvl7pPr>
            <a:lvl8pPr indent="0" lvl="7" marL="0" algn="r">
              <a:spcBef>
                <a:spcPts val="0"/>
              </a:spcBef>
              <a:buNone/>
              <a:defRPr b="0" i="0" sz="1100" u="none" cap="none" strike="noStrike">
                <a:solidFill>
                  <a:srgbClr val="888888"/>
                </a:solidFill>
                <a:latin typeface="Arial"/>
                <a:ea typeface="Arial"/>
                <a:cs typeface="Arial"/>
                <a:sym typeface="Arial"/>
              </a:defRPr>
            </a:lvl8pPr>
            <a:lvl9pPr indent="0" lvl="8" marL="0" algn="r">
              <a:spcBef>
                <a:spcPts val="0"/>
              </a:spcBef>
              <a:buNone/>
              <a:defRPr b="0" i="0" sz="11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5"/>
          <p:cNvSpPr/>
          <p:nvPr/>
        </p:nvSpPr>
        <p:spPr>
          <a:xfrm>
            <a:off x="544242" y="572028"/>
            <a:ext cx="7955280" cy="47848"/>
          </a:xfrm>
          <a:prstGeom prst="rect">
            <a:avLst/>
          </a:prstGeom>
          <a:gradFill>
            <a:gsLst>
              <a:gs pos="0">
                <a:srgbClr val="0072C6"/>
              </a:gs>
              <a:gs pos="100000">
                <a:srgbClr val="E5F1F9"/>
              </a:gs>
            </a:gsLst>
            <a:lin ang="0" scaled="0"/>
          </a:grad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t/>
            </a:r>
            <a:endParaRPr b="0" i="0" sz="1000" u="none" cap="none" strike="noStrike">
              <a:solidFill>
                <a:schemeClr val="dk1"/>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9" name="Shape 69"/>
        <p:cNvGrpSpPr/>
        <p:nvPr/>
      </p:nvGrpSpPr>
      <p:grpSpPr>
        <a:xfrm>
          <a:off x="0" y="0"/>
          <a:ext cx="0" cy="0"/>
          <a:chOff x="0" y="0"/>
          <a:chExt cx="0" cy="0"/>
        </a:xfrm>
      </p:grpSpPr>
      <p:sp>
        <p:nvSpPr>
          <p:cNvPr id="70" name="Google Shape;70;p16"/>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1" name="Google Shape;71;p16"/>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72" name="Google Shape;72;p1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4" name="Google Shape;74;p16"/>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5" name="Shape 75"/>
        <p:cNvGrpSpPr/>
        <p:nvPr/>
      </p:nvGrpSpPr>
      <p:grpSpPr>
        <a:xfrm>
          <a:off x="0" y="0"/>
          <a:ext cx="0" cy="0"/>
          <a:chOff x="0" y="0"/>
          <a:chExt cx="0" cy="0"/>
        </a:xfrm>
      </p:grpSpPr>
      <p:sp>
        <p:nvSpPr>
          <p:cNvPr id="76" name="Google Shape;76;p17"/>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7" name="Google Shape;77;p17"/>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8" name="Google Shape;78;p17"/>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9" name="Google Shape;79;p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1" name="Google Shape;81;p17"/>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2" name="Shape 82"/>
        <p:cNvGrpSpPr/>
        <p:nvPr/>
      </p:nvGrpSpPr>
      <p:grpSpPr>
        <a:xfrm>
          <a:off x="0" y="0"/>
          <a:ext cx="0" cy="0"/>
          <a:chOff x="0" y="0"/>
          <a:chExt cx="0" cy="0"/>
        </a:xfrm>
      </p:grpSpPr>
      <p:sp>
        <p:nvSpPr>
          <p:cNvPr id="83" name="Google Shape;83;p18"/>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4" name="Google Shape;84;p18"/>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5" name="Google Shape;85;p18"/>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6" name="Google Shape;86;p1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87" name="Google Shape;87;p18"/>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8" name="Google Shape;88;p18"/>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9" name="Google Shape;89;p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0" name="Google Shape;90;p1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1" name="Shape 91"/>
        <p:cNvGrpSpPr/>
        <p:nvPr/>
      </p:nvGrpSpPr>
      <p:grpSpPr>
        <a:xfrm>
          <a:off x="0" y="0"/>
          <a:ext cx="0" cy="0"/>
          <a:chOff x="0" y="0"/>
          <a:chExt cx="0" cy="0"/>
        </a:xfrm>
      </p:grpSpPr>
      <p:sp>
        <p:nvSpPr>
          <p:cNvPr id="92" name="Google Shape;92;p1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3" name="Google Shape;93;p19"/>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9"/>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5" name="Google Shape;95;p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2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20"/>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0" name="Shape 100"/>
        <p:cNvGrpSpPr/>
        <p:nvPr/>
      </p:nvGrpSpPr>
      <p:grpSpPr>
        <a:xfrm>
          <a:off x="0" y="0"/>
          <a:ext cx="0" cy="0"/>
          <a:chOff x="0" y="0"/>
          <a:chExt cx="0" cy="0"/>
        </a:xfrm>
      </p:grpSpPr>
      <p:sp>
        <p:nvSpPr>
          <p:cNvPr id="101" name="Google Shape;101;p21"/>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2" name="Google Shape;102;p21"/>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103" name="Google Shape;103;p21"/>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04" name="Google Shape;104;p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6" name="Google Shape;106;p21"/>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7" name="Shape 107"/>
        <p:cNvGrpSpPr/>
        <p:nvPr/>
      </p:nvGrpSpPr>
      <p:grpSpPr>
        <a:xfrm>
          <a:off x="0" y="0"/>
          <a:ext cx="0" cy="0"/>
          <a:chOff x="0" y="0"/>
          <a:chExt cx="0" cy="0"/>
        </a:xfrm>
      </p:grpSpPr>
      <p:sp>
        <p:nvSpPr>
          <p:cNvPr id="108" name="Google Shape;108;p22"/>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9" name="Google Shape;109;p22"/>
          <p:cNvSpPr/>
          <p:nvPr>
            <p:ph idx="2" type="pic"/>
          </p:nvPr>
        </p:nvSpPr>
        <p:spPr>
          <a:xfrm>
            <a:off x="3887391" y="740569"/>
            <a:ext cx="4629150" cy="3655219"/>
          </a:xfrm>
          <a:prstGeom prst="rect">
            <a:avLst/>
          </a:prstGeom>
          <a:noFill/>
          <a:ln>
            <a:noFill/>
          </a:ln>
        </p:spPr>
      </p:sp>
      <p:sp>
        <p:nvSpPr>
          <p:cNvPr id="110" name="Google Shape;110;p22"/>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111" name="Google Shape;111;p2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4" name="Shape 114"/>
        <p:cNvGrpSpPr/>
        <p:nvPr/>
      </p:nvGrpSpPr>
      <p:grpSpPr>
        <a:xfrm>
          <a:off x="0" y="0"/>
          <a:ext cx="0" cy="0"/>
          <a:chOff x="0" y="0"/>
          <a:chExt cx="0" cy="0"/>
        </a:xfrm>
      </p:grpSpPr>
      <p:sp>
        <p:nvSpPr>
          <p:cNvPr id="115" name="Google Shape;115;p2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6" name="Google Shape;116;p23"/>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17" name="Google Shape;117;p2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9" name="Google Shape;119;p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20" name="Shape 120"/>
        <p:cNvGrpSpPr/>
        <p:nvPr/>
      </p:nvGrpSpPr>
      <p:grpSpPr>
        <a:xfrm>
          <a:off x="0" y="0"/>
          <a:ext cx="0" cy="0"/>
          <a:chOff x="0" y="0"/>
          <a:chExt cx="0" cy="0"/>
        </a:xfrm>
      </p:grpSpPr>
      <p:sp>
        <p:nvSpPr>
          <p:cNvPr id="121" name="Google Shape;121;p24"/>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2" name="Google Shape;122;p24"/>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123" name="Google Shape;123;p24"/>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53" name="Google Shape;53;p1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4" name="Google Shape;54;p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55" name="Google Shape;55;p1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slide" Target="/ppt/slides/slide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hyperlink" Target="https://doi.org/10.1016/J.INFSOF.2019.03.00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ctrTitle"/>
          </p:nvPr>
        </p:nvSpPr>
        <p:spPr>
          <a:xfrm>
            <a:off x="770399" y="870315"/>
            <a:ext cx="7395210" cy="898097"/>
          </a:xfrm>
          <a:prstGeom prst="rect">
            <a:avLst/>
          </a:prstGeom>
          <a:noFill/>
          <a:ln>
            <a:noFill/>
          </a:ln>
        </p:spPr>
        <p:txBody>
          <a:bodyPr anchorCtr="0" anchor="ctr" bIns="34275" lIns="68575" spcFirstLastPara="1" rIns="68575" wrap="square" tIns="34275">
            <a:noAutofit/>
          </a:bodyPr>
          <a:lstStyle/>
          <a:p>
            <a:pPr indent="0" lvl="0" marL="0" rtl="0" algn="ctr">
              <a:lnSpc>
                <a:spcPct val="125000"/>
              </a:lnSpc>
              <a:spcBef>
                <a:spcPts val="0"/>
              </a:spcBef>
              <a:spcAft>
                <a:spcPts val="0"/>
              </a:spcAft>
              <a:buClr>
                <a:srgbClr val="C00000"/>
              </a:buClr>
              <a:buSzPts val="2400"/>
              <a:buFont typeface="Arial"/>
              <a:buNone/>
            </a:pPr>
            <a:r>
              <a:rPr b="1" lang="en" sz="2400">
                <a:solidFill>
                  <a:srgbClr val="C00000"/>
                </a:solidFill>
              </a:rPr>
              <a:t>Retrieving Duplicate Issue Reports with Deep Image Understanding</a:t>
            </a:r>
            <a:endParaRPr b="1" sz="2400">
              <a:solidFill>
                <a:srgbClr val="C00000"/>
              </a:solidFill>
              <a:latin typeface="Arial"/>
              <a:ea typeface="Arial"/>
              <a:cs typeface="Arial"/>
              <a:sym typeface="Arial"/>
            </a:endParaRPr>
          </a:p>
        </p:txBody>
      </p:sp>
      <p:sp>
        <p:nvSpPr>
          <p:cNvPr id="132" name="Google Shape;132;p25"/>
          <p:cNvSpPr txBox="1"/>
          <p:nvPr>
            <p:ph idx="12" type="sldNum"/>
          </p:nvPr>
        </p:nvSpPr>
        <p:spPr>
          <a:xfrm>
            <a:off x="6701994" y="4767263"/>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sz="1200">
                <a:latin typeface="Arial"/>
                <a:ea typeface="Arial"/>
                <a:cs typeface="Arial"/>
                <a:sym typeface="Arial"/>
              </a:rPr>
              <a:t>‹#›</a:t>
            </a:fld>
            <a:endParaRPr sz="1200">
              <a:latin typeface="Arial"/>
              <a:ea typeface="Arial"/>
              <a:cs typeface="Arial"/>
              <a:sym typeface="Arial"/>
            </a:endParaRPr>
          </a:p>
        </p:txBody>
      </p:sp>
      <p:sp>
        <p:nvSpPr>
          <p:cNvPr id="133" name="Google Shape;133;p25"/>
          <p:cNvSpPr txBox="1"/>
          <p:nvPr/>
        </p:nvSpPr>
        <p:spPr>
          <a:xfrm>
            <a:off x="1214850" y="2739726"/>
            <a:ext cx="6714300" cy="13623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b="1" lang="en" sz="1800">
                <a:solidFill>
                  <a:schemeClr val="lt1"/>
                </a:solidFill>
              </a:rPr>
              <a:t>Integrating Visual and Textual Semantics Using Deep Learning</a:t>
            </a:r>
            <a:endParaRPr b="1" sz="1800">
              <a:solidFill>
                <a:schemeClr val="lt1"/>
              </a:solidFill>
            </a:endParaRPr>
          </a:p>
          <a:p>
            <a:pPr indent="0" lvl="0" marL="0" marR="0" rtl="0" algn="ctr">
              <a:lnSpc>
                <a:spcPct val="150000"/>
              </a:lnSpc>
              <a:spcBef>
                <a:spcPts val="0"/>
              </a:spcBef>
              <a:spcAft>
                <a:spcPts val="0"/>
              </a:spcAft>
              <a:buNone/>
            </a:pPr>
            <a:r>
              <a:rPr b="1" lang="en" sz="1200">
                <a:solidFill>
                  <a:schemeClr val="lt1"/>
                </a:solidFill>
              </a:rPr>
              <a:t>Does including images (screenshots) as an additional source of information improve duplicate bug report detection in Android applications?</a:t>
            </a:r>
            <a:endParaRPr b="1" sz="1200">
              <a:solidFill>
                <a:schemeClr val="lt1"/>
              </a:solidFill>
            </a:endParaRPr>
          </a:p>
        </p:txBody>
      </p:sp>
      <p:sp>
        <p:nvSpPr>
          <p:cNvPr id="134" name="Google Shape;134;p25"/>
          <p:cNvSpPr txBox="1"/>
          <p:nvPr/>
        </p:nvSpPr>
        <p:spPr>
          <a:xfrm>
            <a:off x="1214846" y="4512927"/>
            <a:ext cx="6714300" cy="346200"/>
          </a:xfrm>
          <a:prstGeom prst="rect">
            <a:avLst/>
          </a:prstGeom>
          <a:noFill/>
          <a:ln>
            <a:noFill/>
          </a:ln>
        </p:spPr>
        <p:txBody>
          <a:bodyPr anchorCtr="0" anchor="t" bIns="34275" lIns="68575" spcFirstLastPara="1" rIns="68575" wrap="square" tIns="34275">
            <a:spAutoFit/>
          </a:bodyPr>
          <a:lstStyle/>
          <a:p>
            <a:pPr indent="0" lvl="0" marL="0" marR="0" rtl="0" algn="ctr">
              <a:lnSpc>
                <a:spcPct val="150000"/>
              </a:lnSpc>
              <a:spcBef>
                <a:spcPts val="0"/>
              </a:spcBef>
              <a:spcAft>
                <a:spcPts val="0"/>
              </a:spcAft>
              <a:buNone/>
            </a:pPr>
            <a:r>
              <a:rPr b="1" lang="en" sz="1800">
                <a:solidFill>
                  <a:schemeClr val="lt1"/>
                </a:solidFill>
              </a:rPr>
              <a:t>Mustahid Hasan</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6"/>
          <p:cNvSpPr txBox="1"/>
          <p:nvPr>
            <p:ph type="title"/>
          </p:nvPr>
        </p:nvSpPr>
        <p:spPr>
          <a:xfrm>
            <a:off x="544243" y="126133"/>
            <a:ext cx="7886700" cy="359203"/>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Outlines</a:t>
            </a:r>
            <a:endParaRPr/>
          </a:p>
        </p:txBody>
      </p:sp>
      <p:sp>
        <p:nvSpPr>
          <p:cNvPr id="140" name="Google Shape;140;p26"/>
          <p:cNvSpPr txBox="1"/>
          <p:nvPr>
            <p:ph idx="1" type="body"/>
          </p:nvPr>
        </p:nvSpPr>
        <p:spPr>
          <a:xfrm>
            <a:off x="544243" y="791308"/>
            <a:ext cx="7971107" cy="3255666"/>
          </a:xfrm>
          <a:prstGeom prst="rect">
            <a:avLst/>
          </a:prstGeom>
          <a:noFill/>
          <a:ln>
            <a:noFill/>
          </a:ln>
        </p:spPr>
        <p:txBody>
          <a:bodyPr anchorCtr="0" anchor="t" bIns="34275" lIns="68575" spcFirstLastPara="1" rIns="68575" wrap="square" tIns="34275">
            <a:normAutofit/>
          </a:bodyPr>
          <a:lstStyle/>
          <a:p>
            <a:pPr indent="-171450" lvl="0" marL="177800" rtl="0" algn="l">
              <a:lnSpc>
                <a:spcPct val="90000"/>
              </a:lnSpc>
              <a:spcBef>
                <a:spcPts val="0"/>
              </a:spcBef>
              <a:spcAft>
                <a:spcPts val="0"/>
              </a:spcAft>
              <a:buClr>
                <a:schemeClr val="dk1"/>
              </a:buClr>
              <a:buSzPts val="2100"/>
              <a:buFont typeface="Noto Sans Symbols"/>
              <a:buChar char="❑"/>
            </a:pPr>
            <a:r>
              <a:rPr lang="en">
                <a:latin typeface="Arial"/>
                <a:ea typeface="Arial"/>
                <a:cs typeface="Arial"/>
                <a:sym typeface="Arial"/>
              </a:rPr>
              <a:t> Background</a:t>
            </a:r>
            <a:endParaRPr/>
          </a:p>
          <a:p>
            <a:pPr indent="-171450" lvl="0" marL="177800" rtl="0" algn="l">
              <a:lnSpc>
                <a:spcPct val="90000"/>
              </a:lnSpc>
              <a:spcBef>
                <a:spcPts val="800"/>
              </a:spcBef>
              <a:spcAft>
                <a:spcPts val="0"/>
              </a:spcAft>
              <a:buClr>
                <a:schemeClr val="dk1"/>
              </a:buClr>
              <a:buSzPts val="2100"/>
              <a:buFont typeface="Noto Sans Symbols"/>
              <a:buChar char="❑"/>
            </a:pPr>
            <a:r>
              <a:rPr lang="en">
                <a:latin typeface="Arial"/>
                <a:ea typeface="Arial"/>
                <a:cs typeface="Arial"/>
                <a:sym typeface="Arial"/>
              </a:rPr>
              <a:t> Challenges &amp; Related Work</a:t>
            </a:r>
            <a:endParaRPr/>
          </a:p>
          <a:p>
            <a:pPr indent="-171450" lvl="0" marL="177800" rtl="0" algn="l">
              <a:lnSpc>
                <a:spcPct val="90000"/>
              </a:lnSpc>
              <a:spcBef>
                <a:spcPts val="800"/>
              </a:spcBef>
              <a:spcAft>
                <a:spcPts val="0"/>
              </a:spcAft>
              <a:buClr>
                <a:schemeClr val="dk1"/>
              </a:buClr>
              <a:buSzPts val="2100"/>
              <a:buFont typeface="Noto Sans Symbols"/>
              <a:buChar char="❑"/>
            </a:pPr>
            <a:r>
              <a:rPr lang="en">
                <a:latin typeface="Arial"/>
                <a:ea typeface="Arial"/>
                <a:cs typeface="Arial"/>
                <a:sym typeface="Arial"/>
              </a:rPr>
              <a:t> Motivations: Integrating Visual and Textual Semantics using DL</a:t>
            </a:r>
            <a:endParaRPr/>
          </a:p>
          <a:p>
            <a:pPr indent="-171450" lvl="0" marL="177800" rtl="0" algn="l">
              <a:lnSpc>
                <a:spcPct val="90000"/>
              </a:lnSpc>
              <a:spcBef>
                <a:spcPts val="800"/>
              </a:spcBef>
              <a:spcAft>
                <a:spcPts val="0"/>
              </a:spcAft>
              <a:buClr>
                <a:schemeClr val="dk1"/>
              </a:buClr>
              <a:buSzPts val="2100"/>
              <a:buFont typeface="Noto Sans Symbols"/>
              <a:buChar char="❑"/>
            </a:pPr>
            <a:r>
              <a:rPr lang="en">
                <a:latin typeface="Arial"/>
                <a:ea typeface="Arial"/>
                <a:cs typeface="Arial"/>
                <a:sym typeface="Arial"/>
              </a:rPr>
              <a:t> Proposed method</a:t>
            </a:r>
            <a:endParaRPr/>
          </a:p>
          <a:p>
            <a:pPr indent="-171450" lvl="0" marL="177800" rtl="0" algn="l">
              <a:lnSpc>
                <a:spcPct val="90000"/>
              </a:lnSpc>
              <a:spcBef>
                <a:spcPts val="800"/>
              </a:spcBef>
              <a:spcAft>
                <a:spcPts val="0"/>
              </a:spcAft>
              <a:buClr>
                <a:schemeClr val="dk1"/>
              </a:buClr>
              <a:buSzPts val="2100"/>
              <a:buFont typeface="Noto Sans Symbols"/>
              <a:buChar char="❑"/>
            </a:pPr>
            <a:r>
              <a:rPr lang="en">
                <a:latin typeface="Arial"/>
                <a:ea typeface="Arial"/>
                <a:cs typeface="Arial"/>
                <a:sym typeface="Arial"/>
              </a:rPr>
              <a:t> Evaluation</a:t>
            </a:r>
            <a:endParaRPr/>
          </a:p>
          <a:p>
            <a:pPr indent="-171450" lvl="0" marL="177800" rtl="0" algn="l">
              <a:lnSpc>
                <a:spcPct val="90000"/>
              </a:lnSpc>
              <a:spcBef>
                <a:spcPts val="800"/>
              </a:spcBef>
              <a:spcAft>
                <a:spcPts val="0"/>
              </a:spcAft>
              <a:buClr>
                <a:schemeClr val="dk1"/>
              </a:buClr>
              <a:buSzPts val="2100"/>
              <a:buFont typeface="Noto Sans Symbols"/>
              <a:buChar char="❑"/>
            </a:pPr>
            <a:r>
              <a:rPr lang="en">
                <a:latin typeface="Arial"/>
                <a:ea typeface="Arial"/>
                <a:cs typeface="Arial"/>
                <a:sym typeface="Arial"/>
              </a:rPr>
              <a:t> Conclusion</a:t>
            </a:r>
            <a:endParaRPr>
              <a:latin typeface="Arial"/>
              <a:ea typeface="Arial"/>
              <a:cs typeface="Arial"/>
              <a:sym typeface="Arial"/>
            </a:endParaRPr>
          </a:p>
        </p:txBody>
      </p:sp>
      <p:sp>
        <p:nvSpPr>
          <p:cNvPr id="141" name="Google Shape;141;p26"/>
          <p:cNvSpPr txBox="1"/>
          <p:nvPr>
            <p:ph idx="12" type="sldNum"/>
          </p:nvPr>
        </p:nvSpPr>
        <p:spPr>
          <a:xfrm>
            <a:off x="6715602" y="4767263"/>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7"/>
          <p:cNvSpPr txBox="1"/>
          <p:nvPr>
            <p:ph type="title"/>
          </p:nvPr>
        </p:nvSpPr>
        <p:spPr>
          <a:xfrm>
            <a:off x="544243" y="126133"/>
            <a:ext cx="7886700" cy="359203"/>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Background</a:t>
            </a:r>
            <a:endParaRPr/>
          </a:p>
        </p:txBody>
      </p:sp>
      <p:sp>
        <p:nvSpPr>
          <p:cNvPr id="147" name="Google Shape;147;p27"/>
          <p:cNvSpPr txBox="1"/>
          <p:nvPr>
            <p:ph idx="1" type="body"/>
          </p:nvPr>
        </p:nvSpPr>
        <p:spPr>
          <a:xfrm>
            <a:off x="544250" y="865025"/>
            <a:ext cx="4437000" cy="2354400"/>
          </a:xfrm>
          <a:prstGeom prst="rect">
            <a:avLst/>
          </a:prstGeom>
          <a:noFill/>
          <a:ln>
            <a:noFill/>
          </a:ln>
        </p:spPr>
        <p:txBody>
          <a:bodyPr anchorCtr="0" anchor="t" bIns="34275" lIns="68575" spcFirstLastPara="1" rIns="68575" wrap="square" tIns="34275">
            <a:normAutofit fontScale="40000" lnSpcReduction="20000"/>
          </a:bodyPr>
          <a:lstStyle/>
          <a:p>
            <a:pPr indent="0" lvl="0" marL="0" rtl="0" algn="just">
              <a:lnSpc>
                <a:spcPct val="90000"/>
              </a:lnSpc>
              <a:spcBef>
                <a:spcPts val="0"/>
              </a:spcBef>
              <a:spcAft>
                <a:spcPts val="0"/>
              </a:spcAft>
              <a:buNone/>
            </a:pPr>
            <a:r>
              <a:t/>
            </a:r>
            <a:endParaRPr sz="1800">
              <a:latin typeface="Arial"/>
              <a:ea typeface="Arial"/>
              <a:cs typeface="Arial"/>
              <a:sym typeface="Arial"/>
            </a:endParaRPr>
          </a:p>
          <a:p>
            <a:pPr indent="-134215" lvl="0" marL="177800" rtl="0" algn="just">
              <a:lnSpc>
                <a:spcPct val="90000"/>
              </a:lnSpc>
              <a:spcBef>
                <a:spcPts val="800"/>
              </a:spcBef>
              <a:spcAft>
                <a:spcPts val="0"/>
              </a:spcAft>
              <a:buSzPct val="100000"/>
              <a:buFont typeface="Roboto"/>
              <a:buAutoNum type="arabicPeriod"/>
            </a:pPr>
            <a:r>
              <a:rPr lang="en" sz="2784">
                <a:latin typeface="Roboto"/>
                <a:ea typeface="Roboto"/>
                <a:cs typeface="Roboto"/>
                <a:sym typeface="Roboto"/>
              </a:rPr>
              <a:t>Mobile app testing </a:t>
            </a:r>
            <a:r>
              <a:rPr lang="en" sz="2784">
                <a:latin typeface="Roboto"/>
                <a:ea typeface="Roboto"/>
                <a:cs typeface="Roboto"/>
                <a:sym typeface="Roboto"/>
              </a:rPr>
              <a:t>tasks </a:t>
            </a:r>
            <a:r>
              <a:rPr lang="en" sz="2784">
                <a:latin typeface="Roboto"/>
                <a:ea typeface="Roboto"/>
                <a:cs typeface="Roboto"/>
                <a:sym typeface="Roboto"/>
              </a:rPr>
              <a:t>are distributed to </a:t>
            </a:r>
            <a:r>
              <a:rPr b="1" lang="en" sz="2784">
                <a:latin typeface="Roboto"/>
                <a:ea typeface="Roboto"/>
                <a:cs typeface="Roboto"/>
                <a:sym typeface="Roboto"/>
              </a:rPr>
              <a:t>crowdsourcing testers</a:t>
            </a:r>
            <a:endParaRPr b="1" sz="2784">
              <a:latin typeface="Roboto"/>
              <a:ea typeface="Roboto"/>
              <a:cs typeface="Roboto"/>
              <a:sym typeface="Roboto"/>
            </a:endParaRPr>
          </a:p>
          <a:p>
            <a:pPr indent="-134215" lvl="0" marL="177800" rtl="0" algn="just">
              <a:lnSpc>
                <a:spcPct val="90000"/>
              </a:lnSpc>
              <a:spcBef>
                <a:spcPts val="800"/>
              </a:spcBef>
              <a:spcAft>
                <a:spcPts val="0"/>
              </a:spcAft>
              <a:buSzPct val="100000"/>
              <a:buFont typeface="Roboto"/>
              <a:buAutoNum type="arabicPeriod"/>
            </a:pPr>
            <a:r>
              <a:rPr lang="en" sz="2784">
                <a:latin typeface="Roboto"/>
                <a:ea typeface="Roboto"/>
                <a:cs typeface="Roboto"/>
                <a:sym typeface="Roboto"/>
              </a:rPr>
              <a:t>Crowdsourced testing leads to the significant issue of duplicate crowdsourced test reports (GitHub, Jira, Bugzilla).</a:t>
            </a:r>
            <a:endParaRPr sz="2784">
              <a:latin typeface="Roboto"/>
              <a:ea typeface="Roboto"/>
              <a:cs typeface="Roboto"/>
              <a:sym typeface="Roboto"/>
            </a:endParaRPr>
          </a:p>
          <a:p>
            <a:pPr indent="-134215" lvl="0" marL="177800" rtl="0" algn="just">
              <a:lnSpc>
                <a:spcPct val="90000"/>
              </a:lnSpc>
              <a:spcBef>
                <a:spcPts val="800"/>
              </a:spcBef>
              <a:spcAft>
                <a:spcPts val="0"/>
              </a:spcAft>
              <a:buSzPct val="100000"/>
              <a:buAutoNum type="arabicPeriod"/>
            </a:pPr>
            <a:r>
              <a:rPr lang="en" sz="2784">
                <a:latin typeface="Roboto"/>
                <a:ea typeface="Roboto"/>
                <a:cs typeface="Roboto"/>
                <a:sym typeface="Roboto"/>
              </a:rPr>
              <a:t>Data suggests that an average of </a:t>
            </a:r>
            <a:r>
              <a:rPr b="1" lang="en" sz="2784">
                <a:latin typeface="Roboto"/>
                <a:ea typeface="Roboto"/>
                <a:cs typeface="Roboto"/>
                <a:sym typeface="Roboto"/>
              </a:rPr>
              <a:t>82% of crowdsourced</a:t>
            </a:r>
            <a:r>
              <a:rPr lang="en" sz="2784">
                <a:latin typeface="Roboto"/>
                <a:ea typeface="Roboto"/>
                <a:cs typeface="Roboto"/>
                <a:sym typeface="Roboto"/>
              </a:rPr>
              <a:t> issue reports in actual industrial data are duplicates.</a:t>
            </a:r>
            <a:endParaRPr sz="2784">
              <a:latin typeface="Roboto"/>
              <a:ea typeface="Roboto"/>
              <a:cs typeface="Roboto"/>
              <a:sym typeface="Roboto"/>
            </a:endParaRPr>
          </a:p>
          <a:p>
            <a:pPr indent="-134215" lvl="0" marL="177800" rtl="0" algn="just">
              <a:lnSpc>
                <a:spcPct val="90000"/>
              </a:lnSpc>
              <a:spcBef>
                <a:spcPts val="800"/>
              </a:spcBef>
              <a:spcAft>
                <a:spcPts val="0"/>
              </a:spcAft>
              <a:buSzPct val="100000"/>
              <a:buFont typeface="Roboto"/>
              <a:buAutoNum type="arabicPeriod"/>
            </a:pPr>
            <a:r>
              <a:rPr lang="en" sz="2784">
                <a:latin typeface="Roboto"/>
                <a:ea typeface="Roboto"/>
                <a:cs typeface="Roboto"/>
                <a:sym typeface="Roboto"/>
              </a:rPr>
              <a:t>Triagers spend 20-30% of time identifying duplicates</a:t>
            </a:r>
            <a:endParaRPr sz="2784">
              <a:latin typeface="Roboto"/>
              <a:ea typeface="Roboto"/>
              <a:cs typeface="Roboto"/>
              <a:sym typeface="Roboto"/>
            </a:endParaRPr>
          </a:p>
          <a:p>
            <a:pPr indent="-134215" lvl="0" marL="177800" rtl="0" algn="just">
              <a:lnSpc>
                <a:spcPct val="90000"/>
              </a:lnSpc>
              <a:spcBef>
                <a:spcPts val="800"/>
              </a:spcBef>
              <a:spcAft>
                <a:spcPts val="0"/>
              </a:spcAft>
              <a:buSzPct val="100000"/>
              <a:buFont typeface="Roboto"/>
              <a:buAutoNum type="arabicPeriod"/>
            </a:pPr>
            <a:r>
              <a:rPr lang="en" sz="2784">
                <a:latin typeface="Roboto"/>
                <a:ea typeface="Roboto"/>
                <a:cs typeface="Roboto"/>
                <a:sym typeface="Roboto"/>
              </a:rPr>
              <a:t>This high duplication rate greatly </a:t>
            </a:r>
            <a:r>
              <a:rPr b="1" lang="en" sz="2784">
                <a:latin typeface="Roboto"/>
                <a:ea typeface="Roboto"/>
                <a:cs typeface="Roboto"/>
                <a:sym typeface="Roboto"/>
              </a:rPr>
              <a:t>reduces the review efficiency </a:t>
            </a:r>
            <a:r>
              <a:rPr lang="en" sz="2784">
                <a:latin typeface="Roboto"/>
                <a:ea typeface="Roboto"/>
                <a:cs typeface="Roboto"/>
                <a:sym typeface="Roboto"/>
              </a:rPr>
              <a:t>of software developers and hinders the timely resolution of bugs</a:t>
            </a:r>
            <a:endParaRPr sz="2784">
              <a:latin typeface="Roboto"/>
              <a:ea typeface="Roboto"/>
              <a:cs typeface="Roboto"/>
              <a:sym typeface="Roboto"/>
            </a:endParaRPr>
          </a:p>
          <a:p>
            <a:pPr indent="-134215" lvl="0" marL="177800" rtl="0" algn="just">
              <a:lnSpc>
                <a:spcPct val="90000"/>
              </a:lnSpc>
              <a:spcBef>
                <a:spcPts val="800"/>
              </a:spcBef>
              <a:spcAft>
                <a:spcPts val="0"/>
              </a:spcAft>
              <a:buSzPct val="100000"/>
              <a:buFont typeface="Roboto"/>
              <a:buAutoNum type="arabicPeriod"/>
            </a:pPr>
            <a:r>
              <a:rPr lang="en" sz="2784">
                <a:latin typeface="Roboto"/>
                <a:ea typeface="Roboto"/>
                <a:cs typeface="Roboto"/>
                <a:sym typeface="Roboto"/>
              </a:rPr>
              <a:t>The </a:t>
            </a:r>
            <a:r>
              <a:rPr b="1" lang="en" sz="2784">
                <a:latin typeface="Roboto"/>
                <a:ea typeface="Roboto"/>
                <a:cs typeface="Roboto"/>
                <a:sym typeface="Roboto"/>
              </a:rPr>
              <a:t>issue report corpus</a:t>
            </a:r>
            <a:r>
              <a:rPr lang="en" sz="2784">
                <a:latin typeface="Roboto"/>
                <a:ea typeface="Roboto"/>
                <a:cs typeface="Roboto"/>
                <a:sym typeface="Roboto"/>
              </a:rPr>
              <a:t> of duplicates and non-duplicates is substantially different, making the task technically more challenging.</a:t>
            </a:r>
            <a:endParaRPr sz="2784">
              <a:latin typeface="Roboto"/>
              <a:ea typeface="Roboto"/>
              <a:cs typeface="Roboto"/>
              <a:sym typeface="Roboto"/>
            </a:endParaRPr>
          </a:p>
          <a:p>
            <a:pPr indent="0" lvl="0" marL="0" rtl="0" algn="just">
              <a:lnSpc>
                <a:spcPct val="90000"/>
              </a:lnSpc>
              <a:spcBef>
                <a:spcPts val="800"/>
              </a:spcBef>
              <a:spcAft>
                <a:spcPts val="0"/>
              </a:spcAft>
              <a:buNone/>
            </a:pPr>
            <a:r>
              <a:t/>
            </a:r>
            <a:endParaRPr sz="1800"/>
          </a:p>
        </p:txBody>
      </p:sp>
      <p:sp>
        <p:nvSpPr>
          <p:cNvPr id="148" name="Google Shape;148;p27"/>
          <p:cNvSpPr txBox="1"/>
          <p:nvPr>
            <p:ph idx="12" type="sldNum"/>
          </p:nvPr>
        </p:nvSpPr>
        <p:spPr>
          <a:xfrm>
            <a:off x="6715602" y="4767263"/>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149" name="Google Shape;149;p27" title="Screenshot 2025-10-27 at 4.17.09 PM.png"/>
          <p:cNvPicPr preferRelativeResize="0"/>
          <p:nvPr/>
        </p:nvPicPr>
        <p:blipFill>
          <a:blip r:embed="rId3">
            <a:alphaModFix/>
          </a:blip>
          <a:stretch>
            <a:fillRect/>
          </a:stretch>
        </p:blipFill>
        <p:spPr>
          <a:xfrm>
            <a:off x="5106275" y="991325"/>
            <a:ext cx="3709701" cy="1919350"/>
          </a:xfrm>
          <a:prstGeom prst="rect">
            <a:avLst/>
          </a:prstGeom>
          <a:noFill/>
          <a:ln>
            <a:noFill/>
          </a:ln>
        </p:spPr>
      </p:pic>
      <p:sp>
        <p:nvSpPr>
          <p:cNvPr id="150" name="Google Shape;150;p27"/>
          <p:cNvSpPr txBox="1"/>
          <p:nvPr/>
        </p:nvSpPr>
        <p:spPr>
          <a:xfrm>
            <a:off x="2960400" y="3274625"/>
            <a:ext cx="3755100" cy="10620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en"/>
              <a:t>Traditional Approach</a:t>
            </a:r>
            <a:endParaRPr b="1"/>
          </a:p>
          <a:p>
            <a:pPr indent="0" lvl="0" marL="0" rtl="0" algn="l">
              <a:spcBef>
                <a:spcPts val="0"/>
              </a:spcBef>
              <a:spcAft>
                <a:spcPts val="0"/>
              </a:spcAft>
              <a:buNone/>
            </a:pPr>
            <a:r>
              <a:rPr lang="en" sz="1200"/>
              <a:t>- Manual inspection by developers</a:t>
            </a:r>
            <a:endParaRPr sz="1200"/>
          </a:p>
          <a:p>
            <a:pPr indent="0" lvl="0" marL="0" rtl="0" algn="l">
              <a:spcBef>
                <a:spcPts val="0"/>
              </a:spcBef>
              <a:spcAft>
                <a:spcPts val="0"/>
              </a:spcAft>
              <a:buNone/>
            </a:pPr>
            <a:r>
              <a:rPr lang="en" sz="1200"/>
              <a:t>- Keyword-based search</a:t>
            </a:r>
            <a:endParaRPr sz="1200"/>
          </a:p>
          <a:p>
            <a:pPr indent="0" lvl="0" marL="0" rtl="0" algn="l">
              <a:spcBef>
                <a:spcPts val="0"/>
              </a:spcBef>
              <a:spcAft>
                <a:spcPts val="0"/>
              </a:spcAft>
              <a:buNone/>
            </a:pPr>
            <a:r>
              <a:rPr lang="en" sz="1200"/>
              <a:t>- Text similarity measures (TF-IDF, BM25)</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544243" y="126133"/>
            <a:ext cx="7886700" cy="359203"/>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Arial"/>
              <a:buNone/>
            </a:pPr>
            <a:r>
              <a:rPr b="1" lang="en">
                <a:latin typeface="Arial"/>
                <a:ea typeface="Arial"/>
                <a:cs typeface="Arial"/>
                <a:sym typeface="Arial"/>
              </a:rPr>
              <a:t>Challenges &amp; Related Work</a:t>
            </a:r>
            <a:endParaRPr/>
          </a:p>
        </p:txBody>
      </p:sp>
      <p:sp>
        <p:nvSpPr>
          <p:cNvPr id="157" name="Google Shape;157;p28"/>
          <p:cNvSpPr txBox="1"/>
          <p:nvPr>
            <p:ph idx="1" type="body"/>
          </p:nvPr>
        </p:nvSpPr>
        <p:spPr>
          <a:xfrm>
            <a:off x="544250" y="894075"/>
            <a:ext cx="7348800" cy="2413200"/>
          </a:xfrm>
          <a:prstGeom prst="rect">
            <a:avLst/>
          </a:prstGeom>
          <a:noFill/>
          <a:ln>
            <a:noFill/>
          </a:ln>
        </p:spPr>
        <p:txBody>
          <a:bodyPr anchorCtr="0" anchor="ctr" bIns="34275" lIns="68575" spcFirstLastPara="1" rIns="68575" wrap="square" tIns="34275">
            <a:noAutofit/>
          </a:bodyPr>
          <a:lstStyle/>
          <a:p>
            <a:pPr indent="-336550" lvl="0" marL="457200" rtl="0" algn="l">
              <a:lnSpc>
                <a:spcPct val="90000"/>
              </a:lnSpc>
              <a:spcBef>
                <a:spcPts val="0"/>
              </a:spcBef>
              <a:spcAft>
                <a:spcPts val="0"/>
              </a:spcAft>
              <a:buSzPts val="1700"/>
              <a:buFont typeface="Roboto"/>
              <a:buChar char="❏"/>
            </a:pPr>
            <a:r>
              <a:rPr lang="en" sz="1700">
                <a:latin typeface="Roboto"/>
                <a:ea typeface="Roboto"/>
                <a:cs typeface="Roboto"/>
                <a:sym typeface="Roboto"/>
              </a:rPr>
              <a:t>Most existing SOTA methods rely heavily on unsupervised clustering </a:t>
            </a:r>
            <a:r>
              <a:rPr lang="en" sz="1700">
                <a:latin typeface="Roboto"/>
                <a:ea typeface="Roboto"/>
                <a:cs typeface="Roboto"/>
                <a:sym typeface="Roboto"/>
              </a:rPr>
              <a:t>of </a:t>
            </a:r>
            <a:r>
              <a:rPr lang="en" sz="1700">
                <a:latin typeface="Roboto"/>
                <a:ea typeface="Roboto"/>
                <a:cs typeface="Roboto"/>
                <a:sym typeface="Roboto"/>
              </a:rPr>
              <a:t>textual features.</a:t>
            </a:r>
            <a:endParaRPr sz="1700">
              <a:latin typeface="Roboto"/>
              <a:ea typeface="Roboto"/>
              <a:cs typeface="Roboto"/>
              <a:sym typeface="Roboto"/>
            </a:endParaRPr>
          </a:p>
          <a:p>
            <a:pPr indent="-336550" lvl="0" marL="457200" rtl="0" algn="l">
              <a:spcBef>
                <a:spcPts val="0"/>
              </a:spcBef>
              <a:spcAft>
                <a:spcPts val="0"/>
              </a:spcAft>
              <a:buSzPts val="1700"/>
              <a:buChar char="❏"/>
            </a:pPr>
            <a:r>
              <a:rPr lang="en" sz="1700">
                <a:latin typeface="Roboto"/>
                <a:ea typeface="Roboto"/>
                <a:cs typeface="Roboto"/>
                <a:sym typeface="Roboto"/>
              </a:rPr>
              <a:t>While some related work explores GUI image understanding, many GUI components </a:t>
            </a:r>
            <a:r>
              <a:rPr b="1" lang="en" sz="1700">
                <a:latin typeface="Roboto"/>
                <a:ea typeface="Roboto"/>
                <a:cs typeface="Roboto"/>
                <a:sym typeface="Roboto"/>
              </a:rPr>
              <a:t>lack natural language labels</a:t>
            </a:r>
            <a:r>
              <a:rPr lang="en" sz="1700">
                <a:latin typeface="Roboto"/>
                <a:ea typeface="Roboto"/>
                <a:cs typeface="Roboto"/>
                <a:sym typeface="Roboto"/>
              </a:rPr>
              <a:t>, to predict these labels based on images.</a:t>
            </a:r>
            <a:endParaRPr sz="1700">
              <a:latin typeface="Roboto"/>
              <a:ea typeface="Roboto"/>
              <a:cs typeface="Roboto"/>
              <a:sym typeface="Roboto"/>
            </a:endParaRPr>
          </a:p>
          <a:p>
            <a:pPr indent="-336550" lvl="0" marL="457200" rtl="0" algn="l">
              <a:lnSpc>
                <a:spcPct val="90000"/>
              </a:lnSpc>
              <a:spcBef>
                <a:spcPts val="0"/>
              </a:spcBef>
              <a:spcAft>
                <a:spcPts val="0"/>
              </a:spcAft>
              <a:buSzPts val="1700"/>
              <a:buChar char="❏"/>
            </a:pPr>
            <a:r>
              <a:rPr lang="en" sz="1700">
                <a:latin typeface="Roboto"/>
                <a:ea typeface="Roboto"/>
                <a:cs typeface="Roboto"/>
                <a:sym typeface="Roboto"/>
              </a:rPr>
              <a:t> </a:t>
            </a:r>
            <a:r>
              <a:rPr lang="en" sz="1700">
                <a:latin typeface="Roboto"/>
                <a:ea typeface="Roboto"/>
                <a:cs typeface="Roboto"/>
                <a:sym typeface="Roboto"/>
              </a:rPr>
              <a:t>Some approaches relied on extracting textual features and using shallow image analysis of </a:t>
            </a:r>
            <a:r>
              <a:rPr b="1" lang="en" sz="1700">
                <a:latin typeface="Roboto"/>
                <a:ea typeface="Roboto"/>
                <a:cs typeface="Roboto"/>
                <a:sym typeface="Roboto"/>
              </a:rPr>
              <a:t>unsupervised learning</a:t>
            </a:r>
            <a:r>
              <a:rPr lang="en" sz="1700">
                <a:latin typeface="Roboto"/>
                <a:ea typeface="Roboto"/>
                <a:cs typeface="Roboto"/>
                <a:sym typeface="Roboto"/>
              </a:rPr>
              <a:t>.</a:t>
            </a:r>
            <a:endParaRPr sz="1700">
              <a:latin typeface="Roboto"/>
              <a:ea typeface="Roboto"/>
              <a:cs typeface="Roboto"/>
              <a:sym typeface="Roboto"/>
            </a:endParaRPr>
          </a:p>
          <a:p>
            <a:pPr indent="-336550" lvl="0" marL="457200" rtl="0" algn="l">
              <a:lnSpc>
                <a:spcPct val="90000"/>
              </a:lnSpc>
              <a:spcBef>
                <a:spcPts val="0"/>
              </a:spcBef>
              <a:spcAft>
                <a:spcPts val="0"/>
              </a:spcAft>
              <a:buSzPts val="1700"/>
              <a:buChar char="❏"/>
            </a:pPr>
            <a:r>
              <a:rPr lang="en" sz="1700">
                <a:latin typeface="Roboto"/>
                <a:ea typeface="Roboto"/>
                <a:cs typeface="Roboto"/>
                <a:sym typeface="Roboto"/>
              </a:rPr>
              <a:t>Lack of </a:t>
            </a:r>
            <a:r>
              <a:rPr b="1" lang="en" sz="1700">
                <a:latin typeface="Roboto"/>
                <a:ea typeface="Roboto"/>
                <a:cs typeface="Roboto"/>
                <a:sym typeface="Roboto"/>
              </a:rPr>
              <a:t>semantic relationships</a:t>
            </a:r>
            <a:r>
              <a:rPr lang="en" sz="1700">
                <a:latin typeface="Roboto"/>
                <a:ea typeface="Roboto"/>
                <a:cs typeface="Roboto"/>
                <a:sym typeface="Roboto"/>
              </a:rPr>
              <a:t> between screenshots and textual descriptions may lead to the imprecise analysis of issue reports.</a:t>
            </a:r>
            <a:endParaRPr sz="1700">
              <a:latin typeface="Roboto"/>
              <a:ea typeface="Roboto"/>
              <a:cs typeface="Roboto"/>
              <a:sym typeface="Roboto"/>
            </a:endParaRPr>
          </a:p>
          <a:p>
            <a:pPr indent="-336550" lvl="0" marL="457200" rtl="0" algn="l">
              <a:lnSpc>
                <a:spcPct val="90000"/>
              </a:lnSpc>
              <a:spcBef>
                <a:spcPts val="0"/>
              </a:spcBef>
              <a:spcAft>
                <a:spcPts val="0"/>
              </a:spcAft>
              <a:buSzPts val="1700"/>
              <a:buFont typeface="Roboto"/>
              <a:buChar char="❏"/>
            </a:pPr>
            <a:r>
              <a:rPr b="1" lang="en" sz="1700">
                <a:latin typeface="Roboto"/>
                <a:ea typeface="Roboto"/>
                <a:cs typeface="Roboto"/>
                <a:sym typeface="Roboto"/>
              </a:rPr>
              <a:t>Study</a:t>
            </a:r>
            <a:r>
              <a:rPr lang="en" sz="1700">
                <a:latin typeface="Roboto"/>
                <a:ea typeface="Roboto"/>
                <a:cs typeface="Roboto"/>
                <a:sym typeface="Roboto"/>
              </a:rPr>
              <a:t> </a:t>
            </a:r>
            <a:r>
              <a:rPr b="1" lang="en" sz="1700">
                <a:latin typeface="Roboto"/>
                <a:ea typeface="Roboto"/>
                <a:cs typeface="Roboto"/>
                <a:sym typeface="Roboto"/>
              </a:rPr>
              <a:t>lacks</a:t>
            </a:r>
            <a:r>
              <a:rPr lang="en" sz="1700">
                <a:latin typeface="Roboto"/>
                <a:ea typeface="Roboto"/>
                <a:cs typeface="Roboto"/>
                <a:sym typeface="Roboto"/>
              </a:rPr>
              <a:t> whether integrating issue report’s image can help or not </a:t>
            </a:r>
            <a:r>
              <a:rPr lang="en" sz="1700">
                <a:latin typeface="Roboto"/>
                <a:ea typeface="Roboto"/>
                <a:cs typeface="Roboto"/>
                <a:sym typeface="Roboto"/>
              </a:rPr>
              <a:t>increasing</a:t>
            </a:r>
            <a:r>
              <a:rPr lang="en" sz="1700">
                <a:latin typeface="Roboto"/>
                <a:ea typeface="Roboto"/>
                <a:cs typeface="Roboto"/>
                <a:sym typeface="Roboto"/>
              </a:rPr>
              <a:t> the accuracy of duplicate Issue Report detection.</a:t>
            </a:r>
            <a:endParaRPr sz="1700">
              <a:latin typeface="Roboto"/>
              <a:ea typeface="Roboto"/>
              <a:cs typeface="Roboto"/>
              <a:sym typeface="Roboto"/>
            </a:endParaRPr>
          </a:p>
        </p:txBody>
      </p:sp>
      <p:sp>
        <p:nvSpPr>
          <p:cNvPr id="158" name="Google Shape;158;p28"/>
          <p:cNvSpPr txBox="1"/>
          <p:nvPr>
            <p:ph idx="12" type="sldNum"/>
          </p:nvPr>
        </p:nvSpPr>
        <p:spPr>
          <a:xfrm>
            <a:off x="6715602" y="4767263"/>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9"/>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Arial"/>
              <a:buNone/>
            </a:pPr>
            <a:r>
              <a:rPr b="1" lang="en">
                <a:latin typeface="Arial"/>
                <a:ea typeface="Arial"/>
                <a:cs typeface="Arial"/>
                <a:sym typeface="Arial"/>
              </a:rPr>
              <a:t>Challenges &amp; Related Work</a:t>
            </a:r>
            <a:endParaRPr/>
          </a:p>
        </p:txBody>
      </p:sp>
      <p:sp>
        <p:nvSpPr>
          <p:cNvPr id="165" name="Google Shape;165;p29"/>
          <p:cNvSpPr txBox="1"/>
          <p:nvPr>
            <p:ph idx="12" type="sldNum"/>
          </p:nvPr>
        </p:nvSpPr>
        <p:spPr>
          <a:xfrm>
            <a:off x="6715602"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166" name="Google Shape;166;p29" title="Screenshot 2025-10-29 at 1.23.42 AM.png"/>
          <p:cNvPicPr preferRelativeResize="0"/>
          <p:nvPr/>
        </p:nvPicPr>
        <p:blipFill>
          <a:blip r:embed="rId3">
            <a:alphaModFix/>
          </a:blip>
          <a:stretch>
            <a:fillRect/>
          </a:stretch>
        </p:blipFill>
        <p:spPr>
          <a:xfrm>
            <a:off x="1026300" y="652775"/>
            <a:ext cx="2803919" cy="3614851"/>
          </a:xfrm>
          <a:prstGeom prst="rect">
            <a:avLst/>
          </a:prstGeom>
          <a:noFill/>
          <a:ln>
            <a:noFill/>
          </a:ln>
        </p:spPr>
      </p:pic>
      <p:pic>
        <p:nvPicPr>
          <p:cNvPr id="167" name="Google Shape;167;p29" title="Screenshot 2025-10-29 at 1.24.36 AM.png"/>
          <p:cNvPicPr preferRelativeResize="0"/>
          <p:nvPr/>
        </p:nvPicPr>
        <p:blipFill>
          <a:blip r:embed="rId4">
            <a:alphaModFix/>
          </a:blip>
          <a:stretch>
            <a:fillRect/>
          </a:stretch>
        </p:blipFill>
        <p:spPr>
          <a:xfrm>
            <a:off x="4764550" y="615250"/>
            <a:ext cx="2965126" cy="361484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0"/>
          <p:cNvSpPr txBox="1"/>
          <p:nvPr>
            <p:ph type="title"/>
          </p:nvPr>
        </p:nvSpPr>
        <p:spPr>
          <a:xfrm>
            <a:off x="544243" y="126133"/>
            <a:ext cx="7886700" cy="359203"/>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Motivations</a:t>
            </a:r>
            <a:endParaRPr>
              <a:solidFill>
                <a:srgbClr val="0070C0"/>
              </a:solidFill>
            </a:endParaRPr>
          </a:p>
        </p:txBody>
      </p:sp>
      <p:sp>
        <p:nvSpPr>
          <p:cNvPr id="173" name="Google Shape;173;p30"/>
          <p:cNvSpPr txBox="1"/>
          <p:nvPr>
            <p:ph idx="12" type="sldNum"/>
          </p:nvPr>
        </p:nvSpPr>
        <p:spPr>
          <a:xfrm>
            <a:off x="6715602" y="4767263"/>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latin typeface="Roboto"/>
                <a:ea typeface="Roboto"/>
                <a:cs typeface="Roboto"/>
                <a:sym typeface="Roboto"/>
              </a:rPr>
              <a:t>‹#›</a:t>
            </a:fld>
            <a:endParaRPr>
              <a:latin typeface="Roboto"/>
              <a:ea typeface="Roboto"/>
              <a:cs typeface="Roboto"/>
              <a:sym typeface="Roboto"/>
            </a:endParaRPr>
          </a:p>
        </p:txBody>
      </p:sp>
      <p:sp>
        <p:nvSpPr>
          <p:cNvPr id="174" name="Google Shape;174;p30"/>
          <p:cNvSpPr txBox="1"/>
          <p:nvPr/>
        </p:nvSpPr>
        <p:spPr>
          <a:xfrm>
            <a:off x="488432" y="675900"/>
            <a:ext cx="67377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700" u="none" cap="none" strike="noStrike">
                <a:solidFill>
                  <a:srgbClr val="C00000"/>
                </a:solidFill>
                <a:latin typeface="Arial"/>
                <a:ea typeface="Arial"/>
                <a:cs typeface="Arial"/>
                <a:sym typeface="Arial"/>
              </a:rPr>
              <a:t>Example of </a:t>
            </a:r>
            <a:r>
              <a:rPr b="1" lang="en" sz="1700">
                <a:solidFill>
                  <a:srgbClr val="C00000"/>
                </a:solidFill>
              </a:rPr>
              <a:t>Duplicate Reports</a:t>
            </a:r>
            <a:endParaRPr b="1" sz="1700">
              <a:solidFill>
                <a:srgbClr val="C00000"/>
              </a:solidFill>
              <a:latin typeface="Arial"/>
              <a:ea typeface="Arial"/>
              <a:cs typeface="Arial"/>
              <a:sym typeface="Arial"/>
            </a:endParaRPr>
          </a:p>
        </p:txBody>
      </p:sp>
      <p:sp>
        <p:nvSpPr>
          <p:cNvPr id="175" name="Google Shape;175;p30"/>
          <p:cNvSpPr txBox="1"/>
          <p:nvPr/>
        </p:nvSpPr>
        <p:spPr>
          <a:xfrm>
            <a:off x="594626" y="4073125"/>
            <a:ext cx="3791700" cy="848400"/>
          </a:xfrm>
          <a:prstGeom prst="rect">
            <a:avLst/>
          </a:prstGeom>
          <a:noFill/>
          <a:ln>
            <a:noFill/>
          </a:ln>
        </p:spPr>
        <p:txBody>
          <a:bodyPr anchorCtr="0" anchor="t" bIns="34275" lIns="68575" spcFirstLastPara="1" rIns="68575" wrap="square" tIns="34275">
            <a:spAutoFit/>
          </a:bodyPr>
          <a:lstStyle/>
          <a:p>
            <a:pPr indent="-323850" lvl="0" marL="457200" rtl="0" algn="l">
              <a:lnSpc>
                <a:spcPct val="115000"/>
              </a:lnSpc>
              <a:spcBef>
                <a:spcPts val="0"/>
              </a:spcBef>
              <a:spcAft>
                <a:spcPts val="0"/>
              </a:spcAft>
              <a:buClr>
                <a:srgbClr val="C00000"/>
              </a:buClr>
              <a:buSzPts val="1500"/>
              <a:buFont typeface="Roboto"/>
              <a:buChar char="•"/>
            </a:pPr>
            <a:r>
              <a:rPr lang="en" sz="750">
                <a:solidFill>
                  <a:schemeClr val="dk1"/>
                </a:solidFill>
                <a:latin typeface="Roboto"/>
                <a:ea typeface="Roboto"/>
                <a:cs typeface="Roboto"/>
                <a:sym typeface="Roboto"/>
              </a:rPr>
              <a:t>Report #287 : Click on the “me” button, the actual “finished task” number should be 0 instead of 4. The result is different from expectation.</a:t>
            </a:r>
            <a:endParaRPr sz="750">
              <a:solidFill>
                <a:schemeClr val="dk1"/>
              </a:solidFill>
              <a:latin typeface="Roboto"/>
              <a:ea typeface="Roboto"/>
              <a:cs typeface="Roboto"/>
              <a:sym typeface="Roboto"/>
            </a:endParaRPr>
          </a:p>
          <a:p>
            <a:pPr indent="-323850" lvl="0" marL="457200" rtl="0" algn="l">
              <a:lnSpc>
                <a:spcPct val="115000"/>
              </a:lnSpc>
              <a:spcBef>
                <a:spcPts val="0"/>
              </a:spcBef>
              <a:spcAft>
                <a:spcPts val="0"/>
              </a:spcAft>
              <a:buClr>
                <a:srgbClr val="C00000"/>
              </a:buClr>
              <a:buSzPts val="1500"/>
              <a:buFont typeface="Roboto"/>
              <a:buChar char="•"/>
            </a:pPr>
            <a:r>
              <a:rPr lang="en" sz="750">
                <a:solidFill>
                  <a:schemeClr val="dk1"/>
                </a:solidFill>
                <a:latin typeface="Roboto"/>
                <a:ea typeface="Roboto"/>
                <a:cs typeface="Roboto"/>
                <a:sym typeface="Roboto"/>
              </a:rPr>
              <a:t>Report #289: Click to accept the task, and choose to view unfinished tasks, while it shows finished tasks under the avatar.</a:t>
            </a:r>
            <a:endParaRPr b="1" sz="1500">
              <a:solidFill>
                <a:srgbClr val="C00000"/>
              </a:solidFill>
              <a:latin typeface="Roboto"/>
              <a:ea typeface="Roboto"/>
              <a:cs typeface="Roboto"/>
              <a:sym typeface="Roboto"/>
            </a:endParaRPr>
          </a:p>
        </p:txBody>
      </p:sp>
      <p:pic>
        <p:nvPicPr>
          <p:cNvPr id="176" name="Google Shape;176;p30" title="Screenshot 2025-10-26 at 10.51.36 PM.png"/>
          <p:cNvPicPr preferRelativeResize="0"/>
          <p:nvPr/>
        </p:nvPicPr>
        <p:blipFill>
          <a:blip r:embed="rId3">
            <a:alphaModFix/>
          </a:blip>
          <a:stretch>
            <a:fillRect/>
          </a:stretch>
        </p:blipFill>
        <p:spPr>
          <a:xfrm>
            <a:off x="903934" y="999086"/>
            <a:ext cx="6566491" cy="2737999"/>
          </a:xfrm>
          <a:prstGeom prst="rect">
            <a:avLst/>
          </a:prstGeom>
          <a:noFill/>
          <a:ln>
            <a:noFill/>
          </a:ln>
        </p:spPr>
      </p:pic>
      <p:sp>
        <p:nvSpPr>
          <p:cNvPr id="177" name="Google Shape;177;p30"/>
          <p:cNvSpPr txBox="1"/>
          <p:nvPr/>
        </p:nvSpPr>
        <p:spPr>
          <a:xfrm>
            <a:off x="647103" y="3808958"/>
            <a:ext cx="7996800" cy="192300"/>
          </a:xfrm>
          <a:prstGeom prst="rect">
            <a:avLst/>
          </a:prstGeom>
          <a:noFill/>
          <a:ln>
            <a:noFill/>
          </a:ln>
        </p:spPr>
        <p:txBody>
          <a:bodyPr anchorCtr="0" anchor="t" bIns="34275" lIns="68575" spcFirstLastPara="1" rIns="68575" wrap="square" tIns="34275">
            <a:spAutoFit/>
          </a:bodyPr>
          <a:lstStyle/>
          <a:p>
            <a:pPr indent="0" lvl="0" marL="457200" rtl="0" algn="l">
              <a:lnSpc>
                <a:spcPct val="115000"/>
              </a:lnSpc>
              <a:spcBef>
                <a:spcPts val="0"/>
              </a:spcBef>
              <a:spcAft>
                <a:spcPts val="0"/>
              </a:spcAft>
              <a:buNone/>
            </a:pPr>
            <a:r>
              <a:rPr lang="en" sz="800">
                <a:solidFill>
                  <a:schemeClr val="dk1"/>
                </a:solidFill>
                <a:latin typeface="Roboto"/>
                <a:ea typeface="Roboto"/>
                <a:cs typeface="Roboto"/>
                <a:sym typeface="Roboto"/>
              </a:rPr>
              <a:t>a)  Different Textual Descriptions for Similar App Screenshots 	b) Different App Screenshots for Similar Textual Descriptions</a:t>
            </a:r>
            <a:endParaRPr sz="800">
              <a:solidFill>
                <a:schemeClr val="dk1"/>
              </a:solidFill>
              <a:latin typeface="Roboto"/>
              <a:ea typeface="Roboto"/>
              <a:cs typeface="Roboto"/>
              <a:sym typeface="Roboto"/>
            </a:endParaRPr>
          </a:p>
        </p:txBody>
      </p:sp>
      <p:sp>
        <p:nvSpPr>
          <p:cNvPr id="178" name="Google Shape;178;p30"/>
          <p:cNvSpPr txBox="1"/>
          <p:nvPr/>
        </p:nvSpPr>
        <p:spPr>
          <a:xfrm>
            <a:off x="4639251" y="4001250"/>
            <a:ext cx="3791700" cy="848400"/>
          </a:xfrm>
          <a:prstGeom prst="rect">
            <a:avLst/>
          </a:prstGeom>
          <a:noFill/>
          <a:ln>
            <a:noFill/>
          </a:ln>
        </p:spPr>
        <p:txBody>
          <a:bodyPr anchorCtr="0" anchor="t" bIns="34275" lIns="68575" spcFirstLastPara="1" rIns="68575" wrap="square" tIns="34275">
            <a:spAutoFit/>
          </a:bodyPr>
          <a:lstStyle/>
          <a:p>
            <a:pPr indent="-323850" lvl="0" marL="457200" rtl="0" algn="l">
              <a:lnSpc>
                <a:spcPct val="115000"/>
              </a:lnSpc>
              <a:spcBef>
                <a:spcPts val="0"/>
              </a:spcBef>
              <a:spcAft>
                <a:spcPts val="0"/>
              </a:spcAft>
              <a:buClr>
                <a:srgbClr val="C00000"/>
              </a:buClr>
              <a:buSzPts val="1500"/>
              <a:buFont typeface="Roboto"/>
              <a:buChar char="•"/>
            </a:pPr>
            <a:r>
              <a:rPr lang="en" sz="750">
                <a:solidFill>
                  <a:schemeClr val="dk1"/>
                </a:solidFill>
                <a:latin typeface="Roboto"/>
                <a:ea typeface="Roboto"/>
                <a:cs typeface="Roboto"/>
                <a:sym typeface="Roboto"/>
              </a:rPr>
              <a:t>Report #1591: Choose one topic to follow, contents will not appear until the app is refreshed.</a:t>
            </a:r>
            <a:endParaRPr sz="750">
              <a:solidFill>
                <a:schemeClr val="dk1"/>
              </a:solidFill>
              <a:latin typeface="Roboto"/>
              <a:ea typeface="Roboto"/>
              <a:cs typeface="Roboto"/>
              <a:sym typeface="Roboto"/>
            </a:endParaRPr>
          </a:p>
          <a:p>
            <a:pPr indent="-323850" lvl="0" marL="457200" rtl="0" algn="l">
              <a:lnSpc>
                <a:spcPct val="115000"/>
              </a:lnSpc>
              <a:spcBef>
                <a:spcPts val="0"/>
              </a:spcBef>
              <a:spcAft>
                <a:spcPts val="0"/>
              </a:spcAft>
              <a:buClr>
                <a:srgbClr val="C00000"/>
              </a:buClr>
              <a:buSzPts val="1500"/>
              <a:buFont typeface="Roboto"/>
              <a:buChar char="•"/>
            </a:pPr>
            <a:r>
              <a:rPr lang="en" sz="750">
                <a:solidFill>
                  <a:schemeClr val="dk1"/>
                </a:solidFill>
                <a:latin typeface="Roboto"/>
                <a:ea typeface="Roboto"/>
                <a:cs typeface="Roboto"/>
                <a:sym typeface="Roboto"/>
              </a:rPr>
              <a:t>Report #1610: Choose moments and follow two topics, while the app does not show the content, contents can be seen after refreshing.</a:t>
            </a:r>
            <a:endParaRPr sz="750">
              <a:solidFill>
                <a:schemeClr val="dk1"/>
              </a:solidFill>
              <a:latin typeface="Roboto"/>
              <a:ea typeface="Roboto"/>
              <a:cs typeface="Roboto"/>
              <a:sym typeface="Roboto"/>
            </a:endParaRPr>
          </a:p>
        </p:txBody>
      </p:sp>
      <p:sp>
        <p:nvSpPr>
          <p:cNvPr id="179" name="Google Shape;179;p30"/>
          <p:cNvSpPr txBox="1"/>
          <p:nvPr/>
        </p:nvSpPr>
        <p:spPr>
          <a:xfrm>
            <a:off x="7463200" y="3197475"/>
            <a:ext cx="562200" cy="29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rPr>
              <a:t>[</a:t>
            </a:r>
            <a:r>
              <a:rPr lang="en" sz="1200" u="sng">
                <a:solidFill>
                  <a:schemeClr val="hlink"/>
                </a:solidFill>
                <a:hlinkClick action="ppaction://hlinksldjump" r:id="rId4"/>
              </a:rPr>
              <a:t>4</a:t>
            </a:r>
            <a:r>
              <a:rPr lang="en" sz="1200">
                <a:solidFill>
                  <a:schemeClr val="dk1"/>
                </a:solidFill>
              </a:rPr>
              <a:t>]</a:t>
            </a:r>
            <a:endParaRPr sz="12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Motivations</a:t>
            </a:r>
            <a:endParaRPr>
              <a:solidFill>
                <a:srgbClr val="0070C0"/>
              </a:solidFill>
            </a:endParaRPr>
          </a:p>
        </p:txBody>
      </p:sp>
      <p:sp>
        <p:nvSpPr>
          <p:cNvPr id="185" name="Google Shape;185;p31"/>
          <p:cNvSpPr txBox="1"/>
          <p:nvPr/>
        </p:nvSpPr>
        <p:spPr>
          <a:xfrm>
            <a:off x="488432" y="675900"/>
            <a:ext cx="6737700" cy="3309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rPr b="1" i="0" lang="en" sz="1700" u="none" cap="none" strike="noStrike">
                <a:solidFill>
                  <a:srgbClr val="C00000"/>
                </a:solidFill>
                <a:latin typeface="Arial"/>
                <a:ea typeface="Arial"/>
                <a:cs typeface="Arial"/>
                <a:sym typeface="Arial"/>
              </a:rPr>
              <a:t>Example of </a:t>
            </a:r>
            <a:r>
              <a:rPr b="1" lang="en" sz="1700">
                <a:solidFill>
                  <a:srgbClr val="C00000"/>
                </a:solidFill>
              </a:rPr>
              <a:t>Duplicate Reports</a:t>
            </a:r>
            <a:endParaRPr b="1" sz="1700">
              <a:solidFill>
                <a:srgbClr val="C00000"/>
              </a:solidFill>
              <a:latin typeface="Arial"/>
              <a:ea typeface="Arial"/>
              <a:cs typeface="Arial"/>
              <a:sym typeface="Arial"/>
            </a:endParaRPr>
          </a:p>
        </p:txBody>
      </p:sp>
      <p:pic>
        <p:nvPicPr>
          <p:cNvPr id="186" name="Google Shape;186;p31" title="Screenshot 2025-10-26 at 10.51.36 PM.png"/>
          <p:cNvPicPr preferRelativeResize="0"/>
          <p:nvPr/>
        </p:nvPicPr>
        <p:blipFill>
          <a:blip r:embed="rId3">
            <a:alphaModFix/>
          </a:blip>
          <a:stretch>
            <a:fillRect/>
          </a:stretch>
        </p:blipFill>
        <p:spPr>
          <a:xfrm>
            <a:off x="903925" y="999076"/>
            <a:ext cx="6566499" cy="2380300"/>
          </a:xfrm>
          <a:prstGeom prst="rect">
            <a:avLst/>
          </a:prstGeom>
          <a:noFill/>
          <a:ln>
            <a:noFill/>
          </a:ln>
        </p:spPr>
      </p:pic>
      <p:sp>
        <p:nvSpPr>
          <p:cNvPr id="187" name="Google Shape;187;p31"/>
          <p:cNvSpPr txBox="1"/>
          <p:nvPr/>
        </p:nvSpPr>
        <p:spPr>
          <a:xfrm>
            <a:off x="543750" y="3379375"/>
            <a:ext cx="80565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t>Screenshots Provide:</a:t>
            </a:r>
            <a:endParaRPr sz="1000"/>
          </a:p>
          <a:p>
            <a:pPr indent="0" lvl="0" marL="0" rtl="0" algn="l">
              <a:spcBef>
                <a:spcPts val="0"/>
              </a:spcBef>
              <a:spcAft>
                <a:spcPts val="0"/>
              </a:spcAft>
              <a:buNone/>
            </a:pPr>
            <a:r>
              <a:rPr lang="en" sz="1000"/>
              <a:t>1. </a:t>
            </a:r>
            <a:r>
              <a:rPr b="1" lang="en" sz="1000"/>
              <a:t>UI State Information:</a:t>
            </a:r>
            <a:r>
              <a:rPr lang="en" sz="1000"/>
              <a:t> Which screen was the user on?</a:t>
            </a:r>
            <a:endParaRPr sz="1000"/>
          </a:p>
          <a:p>
            <a:pPr indent="0" lvl="0" marL="0" rtl="0" algn="l">
              <a:spcBef>
                <a:spcPts val="0"/>
              </a:spcBef>
              <a:spcAft>
                <a:spcPts val="0"/>
              </a:spcAft>
              <a:buNone/>
            </a:pPr>
            <a:r>
              <a:rPr lang="en" sz="1000"/>
              <a:t>2. </a:t>
            </a:r>
            <a:r>
              <a:rPr b="1" lang="en" sz="1000"/>
              <a:t>Error Messages:</a:t>
            </a:r>
            <a:r>
              <a:rPr lang="en" sz="1000"/>
              <a:t> Visual error dialogs captured</a:t>
            </a:r>
            <a:endParaRPr sz="1000"/>
          </a:p>
          <a:p>
            <a:pPr indent="0" lvl="0" marL="0" rtl="0" algn="l">
              <a:spcBef>
                <a:spcPts val="0"/>
              </a:spcBef>
              <a:spcAft>
                <a:spcPts val="0"/>
              </a:spcAft>
              <a:buNone/>
            </a:pPr>
            <a:r>
              <a:rPr lang="en" sz="1000"/>
              <a:t>3. </a:t>
            </a:r>
            <a:r>
              <a:rPr b="1" lang="en" sz="1000"/>
              <a:t>Context:</a:t>
            </a:r>
            <a:r>
              <a:rPr lang="en" sz="1000"/>
              <a:t> Layout, widgets, visual elements</a:t>
            </a:r>
            <a:endParaRPr sz="1000"/>
          </a:p>
          <a:p>
            <a:pPr indent="0" lvl="0" marL="0" rtl="0" algn="l">
              <a:spcBef>
                <a:spcPts val="0"/>
              </a:spcBef>
              <a:spcAft>
                <a:spcPts val="0"/>
              </a:spcAft>
              <a:buNone/>
            </a:pPr>
            <a:r>
              <a:rPr lang="en" sz="1000"/>
              <a:t>4. </a:t>
            </a:r>
            <a:r>
              <a:rPr b="1" lang="en" sz="1000"/>
              <a:t>Reproduction Evidence: </a:t>
            </a:r>
            <a:r>
              <a:rPr lang="en" sz="1000"/>
              <a:t>Step-by-step visual proof</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Two bug reports with similar screenshots and similar text descriptions are more likely to be duplicates than reports matching on text alone.</a:t>
            </a:r>
            <a:endParaRPr sz="1000"/>
          </a:p>
          <a:p>
            <a:pPr indent="0" lvl="0" marL="0" rtl="0" algn="l">
              <a:spcBef>
                <a:spcPts val="0"/>
              </a:spcBef>
              <a:spcAft>
                <a:spcPts val="0"/>
              </a:spcAft>
              <a:buNone/>
            </a:pPr>
            <a:r>
              <a:t/>
            </a:r>
            <a:endParaRPr sz="1000"/>
          </a:p>
          <a:p>
            <a:pPr indent="0" lvl="0" marL="0" rtl="0" algn="l">
              <a:spcBef>
                <a:spcPts val="0"/>
              </a:spcBef>
              <a:spcAft>
                <a:spcPts val="0"/>
              </a:spcAft>
              <a:buNone/>
            </a:pPr>
            <a:r>
              <a:rPr lang="en" sz="1000"/>
              <a:t>H1: Multi-modal features (Visual + Textual) outperform single-modality approaches for duplicate bug report detection.</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544243" y="126133"/>
            <a:ext cx="7886700" cy="359203"/>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Proposed Method</a:t>
            </a:r>
            <a:endParaRPr/>
          </a:p>
        </p:txBody>
      </p:sp>
      <p:sp>
        <p:nvSpPr>
          <p:cNvPr id="193" name="Google Shape;193;p32"/>
          <p:cNvSpPr txBox="1"/>
          <p:nvPr>
            <p:ph idx="12" type="sldNum"/>
          </p:nvPr>
        </p:nvSpPr>
        <p:spPr>
          <a:xfrm>
            <a:off x="6715602" y="4767263"/>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id="194" name="Google Shape;194;p32" title="Duplicate BR.drawio.png"/>
          <p:cNvPicPr preferRelativeResize="0"/>
          <p:nvPr/>
        </p:nvPicPr>
        <p:blipFill>
          <a:blip r:embed="rId3">
            <a:alphaModFix/>
          </a:blip>
          <a:stretch>
            <a:fillRect/>
          </a:stretch>
        </p:blipFill>
        <p:spPr>
          <a:xfrm>
            <a:off x="1657425" y="746300"/>
            <a:ext cx="5603026" cy="41900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3"/>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2400"/>
              <a:buFont typeface="Microsoft YaHei"/>
              <a:buNone/>
            </a:pPr>
            <a:r>
              <a:rPr lang="en"/>
              <a:t>Proposed Method</a:t>
            </a:r>
            <a:endParaRPr/>
          </a:p>
        </p:txBody>
      </p:sp>
      <p:sp>
        <p:nvSpPr>
          <p:cNvPr id="200" name="Google Shape;200;p33"/>
          <p:cNvSpPr txBox="1"/>
          <p:nvPr>
            <p:ph idx="12" type="sldNum"/>
          </p:nvPr>
        </p:nvSpPr>
        <p:spPr>
          <a:xfrm>
            <a:off x="6715602"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01" name="Google Shape;201;p33"/>
          <p:cNvGraphicFramePr/>
          <p:nvPr/>
        </p:nvGraphicFramePr>
        <p:xfrm>
          <a:off x="615350" y="1033475"/>
          <a:ext cx="3000000" cy="3000000"/>
        </p:xfrm>
        <a:graphic>
          <a:graphicData uri="http://schemas.openxmlformats.org/drawingml/2006/table">
            <a:tbl>
              <a:tblPr>
                <a:noFill/>
                <a:tableStyleId>{2F97E986-E154-4EDB-AE63-72809A1A8B18}</a:tableStyleId>
              </a:tblPr>
              <a:tblGrid>
                <a:gridCol w="704150"/>
                <a:gridCol w="768750"/>
                <a:gridCol w="1081000"/>
                <a:gridCol w="986175"/>
              </a:tblGrid>
              <a:tr h="622350">
                <a:tc>
                  <a:txBody>
                    <a:bodyPr/>
                    <a:lstStyle/>
                    <a:p>
                      <a:pPr indent="0" lvl="0" marL="0" rtl="0" algn="l">
                        <a:spcBef>
                          <a:spcPts val="0"/>
                        </a:spcBef>
                        <a:spcAft>
                          <a:spcPts val="0"/>
                        </a:spcAft>
                        <a:buNone/>
                      </a:pPr>
                      <a:r>
                        <a:rPr lang="en" sz="750">
                          <a:solidFill>
                            <a:schemeClr val="dk1"/>
                          </a:solidFill>
                          <a:highlight>
                            <a:schemeClr val="lt1"/>
                          </a:highlight>
                        </a:rPr>
                        <a:t>Feature Type</a:t>
                      </a:r>
                      <a:endParaRPr sz="750">
                        <a:solidFill>
                          <a:schemeClr val="dk1"/>
                        </a:solidFill>
                        <a:highlight>
                          <a:schemeClr val="lt1"/>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750">
                          <a:solidFill>
                            <a:schemeClr val="dk1"/>
                          </a:solidFill>
                          <a:highlight>
                            <a:schemeClr val="lt1"/>
                          </a:highlight>
                        </a:rPr>
                        <a:t>Source Component</a:t>
                      </a:r>
                      <a:endParaRPr sz="750">
                        <a:solidFill>
                          <a:schemeClr val="dk1"/>
                        </a:solidFill>
                        <a:highlight>
                          <a:schemeClr val="lt1"/>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750">
                          <a:solidFill>
                            <a:schemeClr val="dk1"/>
                          </a:solidFill>
                          <a:highlight>
                            <a:schemeClr val="lt1"/>
                          </a:highlight>
                        </a:rPr>
                        <a:t>Deep Learning Technique</a:t>
                      </a:r>
                      <a:endParaRPr sz="750">
                        <a:solidFill>
                          <a:schemeClr val="dk1"/>
                        </a:solidFill>
                        <a:highlight>
                          <a:schemeClr val="lt1"/>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750">
                          <a:solidFill>
                            <a:schemeClr val="dk1"/>
                          </a:solidFill>
                          <a:highlight>
                            <a:schemeClr val="lt1"/>
                          </a:highlight>
                        </a:rPr>
                        <a:t>Output</a:t>
                      </a:r>
                      <a:endParaRPr sz="750">
                        <a:solidFill>
                          <a:schemeClr val="dk1"/>
                        </a:solidFill>
                        <a:highlight>
                          <a:schemeClr val="lt1"/>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817875">
                <a:tc>
                  <a:txBody>
                    <a:bodyPr/>
                    <a:lstStyle/>
                    <a:p>
                      <a:pPr indent="0" lvl="0" marL="0" rtl="0" algn="l">
                        <a:spcBef>
                          <a:spcPts val="0"/>
                        </a:spcBef>
                        <a:spcAft>
                          <a:spcPts val="0"/>
                        </a:spcAft>
                        <a:buNone/>
                      </a:pPr>
                      <a:r>
                        <a:rPr b="1" lang="en" sz="750">
                          <a:solidFill>
                            <a:schemeClr val="dk1"/>
                          </a:solidFill>
                          <a:highlight>
                            <a:schemeClr val="lt1"/>
                          </a:highlight>
                        </a:rPr>
                        <a:t>Structu</a:t>
                      </a:r>
                      <a:r>
                        <a:rPr b="1" lang="en" sz="750">
                          <a:solidFill>
                            <a:schemeClr val="dk1"/>
                          </a:solidFill>
                          <a:highlight>
                            <a:schemeClr val="lt1"/>
                          </a:highlight>
                        </a:rPr>
                        <a:t>r</a:t>
                      </a:r>
                      <a:r>
                        <a:rPr b="1" lang="en" sz="750">
                          <a:solidFill>
                            <a:schemeClr val="dk1"/>
                          </a:solidFill>
                          <a:highlight>
                            <a:schemeClr val="lt1"/>
                          </a:highlight>
                        </a:rPr>
                        <a:t>al Feature (SF)</a:t>
                      </a:r>
                      <a:endParaRPr b="1" sz="750">
                        <a:solidFill>
                          <a:schemeClr val="dk1"/>
                        </a:solidFill>
                        <a:highlight>
                          <a:schemeClr val="lt1"/>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750">
                          <a:solidFill>
                            <a:schemeClr val="dk1"/>
                          </a:solidFill>
                          <a:highlight>
                            <a:schemeClr val="lt1"/>
                          </a:highlight>
                        </a:rPr>
                        <a:t>Screenshot</a:t>
                      </a:r>
                      <a:endParaRPr sz="750">
                        <a:solidFill>
                          <a:schemeClr val="dk1"/>
                        </a:solidFill>
                        <a:highlight>
                          <a:schemeClr val="lt1"/>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750">
                          <a:solidFill>
                            <a:schemeClr val="dk1"/>
                          </a:solidFill>
                          <a:highlight>
                            <a:schemeClr val="lt1"/>
                          </a:highlight>
                        </a:rPr>
                        <a:t>Hybrid DL:</a:t>
                      </a:r>
                      <a:r>
                        <a:rPr lang="en" sz="750">
                          <a:solidFill>
                            <a:schemeClr val="dk1"/>
                          </a:solidFill>
                          <a:highlight>
                            <a:schemeClr val="lt1"/>
                          </a:highlight>
                        </a:rPr>
                        <a:t> Combines with </a:t>
                      </a:r>
                      <a:r>
                        <a:rPr b="1" lang="en" sz="750">
                          <a:solidFill>
                            <a:schemeClr val="dk1"/>
                          </a:solidFill>
                          <a:highlight>
                            <a:schemeClr val="lt1"/>
                          </a:highlight>
                        </a:rPr>
                        <a:t>VGG-16</a:t>
                      </a:r>
                      <a:r>
                        <a:rPr lang="en" sz="750">
                          <a:solidFill>
                            <a:schemeClr val="dk1"/>
                          </a:solidFill>
                          <a:highlight>
                            <a:schemeClr val="lt1"/>
                          </a:highlight>
                        </a:rPr>
                        <a:t> and a </a:t>
                      </a:r>
                      <a:r>
                        <a:rPr b="1" lang="en" sz="750">
                          <a:solidFill>
                            <a:schemeClr val="dk1"/>
                          </a:solidFill>
                          <a:highlight>
                            <a:schemeClr val="lt1"/>
                          </a:highlight>
                        </a:rPr>
                        <a:t>CNN model (</a:t>
                      </a:r>
                      <a:r>
                        <a:rPr lang="en" sz="750">
                          <a:solidFill>
                            <a:schemeClr val="dk1"/>
                          </a:solidFill>
                          <a:highlight>
                            <a:schemeClr val="lt1"/>
                          </a:highlight>
                        </a:rPr>
                        <a:t>16 Layer of trainable Weights</a:t>
                      </a:r>
                      <a:r>
                        <a:rPr b="1" lang="en" sz="750">
                          <a:solidFill>
                            <a:schemeClr val="dk1"/>
                          </a:solidFill>
                          <a:highlight>
                            <a:schemeClr val="lt1"/>
                          </a:highlight>
                        </a:rPr>
                        <a:t>)</a:t>
                      </a:r>
                      <a:r>
                        <a:rPr lang="en" sz="750">
                          <a:solidFill>
                            <a:schemeClr val="dk1"/>
                          </a:solidFill>
                          <a:highlight>
                            <a:schemeClr val="lt1"/>
                          </a:highlight>
                        </a:rPr>
                        <a:t>.</a:t>
                      </a:r>
                      <a:endParaRPr sz="750">
                        <a:solidFill>
                          <a:schemeClr val="dk1"/>
                        </a:solidFill>
                        <a:highlight>
                          <a:schemeClr val="lt1"/>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750">
                          <a:solidFill>
                            <a:schemeClr val="dk1"/>
                          </a:solidFill>
                          <a:highlight>
                            <a:schemeClr val="lt1"/>
                          </a:highlight>
                        </a:rPr>
                        <a:t>Four-level tree structure of widgets.</a:t>
                      </a:r>
                      <a:endParaRPr sz="750">
                        <a:solidFill>
                          <a:schemeClr val="dk1"/>
                        </a:solidFill>
                        <a:highlight>
                          <a:schemeClr val="lt1"/>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r h="1361175">
                <a:tc>
                  <a:txBody>
                    <a:bodyPr/>
                    <a:lstStyle/>
                    <a:p>
                      <a:pPr indent="0" lvl="0" marL="0" rtl="0" algn="l">
                        <a:spcBef>
                          <a:spcPts val="0"/>
                        </a:spcBef>
                        <a:spcAft>
                          <a:spcPts val="0"/>
                        </a:spcAft>
                        <a:buNone/>
                      </a:pPr>
                      <a:r>
                        <a:rPr b="1" lang="en" sz="750">
                          <a:solidFill>
                            <a:schemeClr val="dk1"/>
                          </a:solidFill>
                          <a:highlight>
                            <a:schemeClr val="lt1"/>
                          </a:highlight>
                        </a:rPr>
                        <a:t>Content Feature (CF)</a:t>
                      </a:r>
                      <a:endParaRPr b="1" sz="750">
                        <a:solidFill>
                          <a:schemeClr val="dk1"/>
                        </a:solidFill>
                        <a:highlight>
                          <a:schemeClr val="lt1"/>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750">
                          <a:solidFill>
                            <a:schemeClr val="dk1"/>
                          </a:solidFill>
                          <a:highlight>
                            <a:schemeClr val="lt1"/>
                          </a:highlight>
                        </a:rPr>
                        <a:t>Screenshot</a:t>
                      </a:r>
                      <a:endParaRPr sz="750">
                        <a:solidFill>
                          <a:schemeClr val="dk1"/>
                        </a:solidFill>
                        <a:highlight>
                          <a:schemeClr val="lt1"/>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750">
                          <a:solidFill>
                            <a:schemeClr val="dk1"/>
                          </a:solidFill>
                          <a:highlight>
                            <a:schemeClr val="lt1"/>
                          </a:highlight>
                        </a:rPr>
                        <a:t>CNN Model:</a:t>
                      </a:r>
                      <a:r>
                        <a:rPr lang="en" sz="750">
                          <a:solidFill>
                            <a:schemeClr val="dk1"/>
                          </a:solidFill>
                          <a:highlight>
                            <a:schemeClr val="lt1"/>
                          </a:highlight>
                        </a:rPr>
                        <a:t> Trained on widget screenshots. </a:t>
                      </a:r>
                      <a:r>
                        <a:rPr b="1" lang="en" sz="750">
                          <a:solidFill>
                            <a:schemeClr val="dk1"/>
                          </a:solidFill>
                          <a:highlight>
                            <a:schemeClr val="lt1"/>
                          </a:highlight>
                        </a:rPr>
                        <a:t>AdaDelta</a:t>
                      </a:r>
                      <a:r>
                        <a:rPr lang="en" sz="750">
                          <a:solidFill>
                            <a:schemeClr val="dk1"/>
                          </a:solidFill>
                          <a:highlight>
                            <a:schemeClr val="lt1"/>
                          </a:highlight>
                        </a:rPr>
                        <a:t> optimizer and </a:t>
                      </a:r>
                      <a:r>
                        <a:rPr b="1" lang="en" sz="750">
                          <a:solidFill>
                            <a:schemeClr val="dk1"/>
                          </a:solidFill>
                          <a:highlight>
                            <a:schemeClr val="lt1"/>
                          </a:highlight>
                        </a:rPr>
                        <a:t>categorical_crossentropy</a:t>
                      </a:r>
                      <a:r>
                        <a:rPr lang="en" sz="750">
                          <a:solidFill>
                            <a:schemeClr val="dk1"/>
                          </a:solidFill>
                          <a:highlight>
                            <a:schemeClr val="lt1"/>
                          </a:highlight>
                        </a:rPr>
                        <a:t> loss function used during training.</a:t>
                      </a:r>
                      <a:endParaRPr sz="750">
                        <a:solidFill>
                          <a:schemeClr val="dk1"/>
                        </a:solidFill>
                        <a:highlight>
                          <a:schemeClr val="lt1"/>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b="1" lang="en" sz="750">
                          <a:solidFill>
                            <a:schemeClr val="dk1"/>
                          </a:solidFill>
                          <a:highlight>
                            <a:schemeClr val="lt1"/>
                          </a:highlight>
                        </a:rPr>
                        <a:t>4096-dimensional vector</a:t>
                      </a:r>
                      <a:r>
                        <a:rPr lang="en" sz="750">
                          <a:solidFill>
                            <a:schemeClr val="dk1"/>
                          </a:solidFill>
                          <a:highlight>
                            <a:schemeClr val="lt1"/>
                          </a:highlight>
                        </a:rPr>
                        <a:t> (output of the penultimate fully connection layer, discarding SoftMax)</a:t>
                      </a:r>
                      <a:endParaRPr sz="750">
                        <a:solidFill>
                          <a:schemeClr val="dk1"/>
                        </a:solidFill>
                        <a:highlight>
                          <a:schemeClr val="lt1"/>
                        </a:highlight>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solidFill>
                      <a:schemeClr val="lt1"/>
                    </a:solidFill>
                  </a:tcPr>
                </a:tc>
              </a:tr>
            </a:tbl>
          </a:graphicData>
        </a:graphic>
      </p:graphicFrame>
      <p:pic>
        <p:nvPicPr>
          <p:cNvPr id="202" name="Google Shape;202;p33" title="Duplicate BR.drawio.png"/>
          <p:cNvPicPr preferRelativeResize="0"/>
          <p:nvPr/>
        </p:nvPicPr>
        <p:blipFill>
          <a:blip r:embed="rId3">
            <a:alphaModFix/>
          </a:blip>
          <a:stretch>
            <a:fillRect/>
          </a:stretch>
        </p:blipFill>
        <p:spPr>
          <a:xfrm>
            <a:off x="4390525" y="1030065"/>
            <a:ext cx="4123126" cy="3083360"/>
          </a:xfrm>
          <a:prstGeom prst="rect">
            <a:avLst/>
          </a:prstGeom>
          <a:noFill/>
          <a:ln>
            <a:noFill/>
          </a:ln>
        </p:spPr>
      </p:pic>
      <p:sp>
        <p:nvSpPr>
          <p:cNvPr id="203" name="Google Shape;203;p33"/>
          <p:cNvSpPr txBox="1"/>
          <p:nvPr/>
        </p:nvSpPr>
        <p:spPr>
          <a:xfrm>
            <a:off x="544250" y="4013375"/>
            <a:ext cx="42009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 Input: Bug report screenshots (resized to 224×224)</a:t>
            </a:r>
            <a:endParaRPr sz="1200"/>
          </a:p>
          <a:p>
            <a:pPr indent="0" lvl="0" marL="0" rtl="0" algn="l">
              <a:spcBef>
                <a:spcPts val="0"/>
              </a:spcBef>
              <a:spcAft>
                <a:spcPts val="0"/>
              </a:spcAft>
              <a:buNone/>
            </a:pPr>
            <a:r>
              <a:rPr lang="en" sz="1200"/>
              <a:t>- Output: 512-dimensional feature vector per image</a:t>
            </a:r>
            <a:endParaRPr sz="1200"/>
          </a:p>
          <a:p>
            <a:pPr indent="0" lvl="0" marL="0" rtl="0" algn="l">
              <a:spcBef>
                <a:spcPts val="0"/>
              </a:spcBef>
              <a:spcAft>
                <a:spcPts val="0"/>
              </a:spcAft>
              <a:buNone/>
            </a:pPr>
            <a:r>
              <a:rPr lang="en" sz="1200"/>
              <a:t>- Distance: L2-normalized Euclidean distance between feature vectors</a:t>
            </a:r>
            <a:endParaRPr sz="12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4"/>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spcBef>
                <a:spcPts val="0"/>
              </a:spcBef>
              <a:spcAft>
                <a:spcPts val="0"/>
              </a:spcAft>
              <a:buClr>
                <a:schemeClr val="dk1"/>
              </a:buClr>
              <a:buSzPts val="2400"/>
              <a:buFont typeface="Microsoft YaHei"/>
              <a:buNone/>
            </a:pPr>
            <a:r>
              <a:rPr lang="en"/>
              <a:t>Proposed Method</a:t>
            </a:r>
            <a:endParaRPr/>
          </a:p>
        </p:txBody>
      </p:sp>
      <p:sp>
        <p:nvSpPr>
          <p:cNvPr id="209" name="Google Shape;209;p34"/>
          <p:cNvSpPr txBox="1"/>
          <p:nvPr>
            <p:ph idx="12" type="sldNum"/>
          </p:nvPr>
        </p:nvSpPr>
        <p:spPr>
          <a:xfrm>
            <a:off x="6715602"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10" name="Google Shape;210;p34"/>
          <p:cNvGraphicFramePr/>
          <p:nvPr/>
        </p:nvGraphicFramePr>
        <p:xfrm>
          <a:off x="132125" y="1095875"/>
          <a:ext cx="3000000" cy="3000000"/>
        </p:xfrm>
        <a:graphic>
          <a:graphicData uri="http://schemas.openxmlformats.org/drawingml/2006/table">
            <a:tbl>
              <a:tblPr>
                <a:noFill/>
                <a:tableStyleId>{2F97E986-E154-4EDB-AE63-72809A1A8B18}</a:tableStyleId>
              </a:tblPr>
              <a:tblGrid>
                <a:gridCol w="1208900"/>
                <a:gridCol w="912850"/>
                <a:gridCol w="3412900"/>
                <a:gridCol w="2352025"/>
              </a:tblGrid>
              <a:tr h="418850">
                <a:tc>
                  <a:txBody>
                    <a:bodyPr/>
                    <a:lstStyle/>
                    <a:p>
                      <a:pPr indent="0" lvl="0" marL="0" rtl="0" algn="l">
                        <a:spcBef>
                          <a:spcPts val="0"/>
                        </a:spcBef>
                        <a:spcAft>
                          <a:spcPts val="0"/>
                        </a:spcAft>
                        <a:buNone/>
                      </a:pPr>
                      <a:r>
                        <a:rPr lang="en" sz="1050">
                          <a:solidFill>
                            <a:schemeClr val="dk1"/>
                          </a:solidFill>
                          <a:highlight>
                            <a:schemeClr val="lt1"/>
                          </a:highlight>
                        </a:rPr>
                        <a:t>Feature Type</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Source Component</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Deep Learning Technique</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Output</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r>
              <a:tr h="431000">
                <a:tc>
                  <a:txBody>
                    <a:bodyPr/>
                    <a:lstStyle/>
                    <a:p>
                      <a:pPr indent="0" lvl="0" marL="0" rtl="0" algn="l">
                        <a:spcBef>
                          <a:spcPts val="0"/>
                        </a:spcBef>
                        <a:spcAft>
                          <a:spcPts val="0"/>
                        </a:spcAft>
                        <a:buNone/>
                      </a:pPr>
                      <a:r>
                        <a:rPr b="1" lang="en" sz="1050">
                          <a:solidFill>
                            <a:schemeClr val="dk1"/>
                          </a:solidFill>
                          <a:highlight>
                            <a:schemeClr val="lt1"/>
                          </a:highlight>
                        </a:rPr>
                        <a:t>Bug Behavior (BB)</a:t>
                      </a:r>
                      <a:endParaRPr b="1"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Textual Description</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b="1" lang="en" sz="1050">
                          <a:solidFill>
                            <a:schemeClr val="dk1"/>
                          </a:solidFill>
                          <a:highlight>
                            <a:schemeClr val="lt1"/>
                          </a:highlight>
                        </a:rPr>
                        <a:t>Pre-trained TextCNN model:</a:t>
                      </a:r>
                      <a:r>
                        <a:rPr lang="en" sz="1050">
                          <a:solidFill>
                            <a:schemeClr val="dk1"/>
                          </a:solidFill>
                          <a:highlight>
                            <a:schemeClr val="lt1"/>
                          </a:highlight>
                        </a:rPr>
                        <a:t> Used to separate the Bug Behavior from the Reproduction Step.</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t/>
                      </a:r>
                      <a:endParaRPr>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r>
              <a:tr h="431000">
                <a:tc>
                  <a:txBody>
                    <a:bodyPr/>
                    <a:lstStyle/>
                    <a:p>
                      <a:pPr indent="0" lvl="0" marL="0" rtl="0" algn="l">
                        <a:spcBef>
                          <a:spcPts val="0"/>
                        </a:spcBef>
                        <a:spcAft>
                          <a:spcPts val="0"/>
                        </a:spcAft>
                        <a:buNone/>
                      </a:pPr>
                      <a:r>
                        <a:rPr b="1" lang="en" sz="1050">
                          <a:solidFill>
                            <a:schemeClr val="dk1"/>
                          </a:solidFill>
                          <a:highlight>
                            <a:schemeClr val="lt1"/>
                          </a:highlight>
                        </a:rPr>
                        <a:t>Bug Behavior (Encoding)</a:t>
                      </a:r>
                      <a:endParaRPr b="1"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Textual Description</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b="1" lang="en" sz="1050">
                          <a:solidFill>
                            <a:schemeClr val="dk1"/>
                          </a:solidFill>
                          <a:highlight>
                            <a:schemeClr val="lt1"/>
                          </a:highlight>
                        </a:rPr>
                        <a:t>Word2Vec model:</a:t>
                      </a:r>
                      <a:r>
                        <a:rPr lang="en" sz="1050">
                          <a:solidFill>
                            <a:schemeClr val="dk1"/>
                          </a:solidFill>
                          <a:highlight>
                            <a:schemeClr val="lt1"/>
                          </a:highlight>
                        </a:rPr>
                        <a:t> To encode the Bug Behavior vector.</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b="1" lang="en" sz="1050">
                          <a:solidFill>
                            <a:schemeClr val="dk1"/>
                          </a:solidFill>
                          <a:highlight>
                            <a:schemeClr val="lt1"/>
                          </a:highlight>
                        </a:rPr>
                        <a:t>100-dimensional vector</a:t>
                      </a:r>
                      <a:r>
                        <a:rPr lang="en" sz="1050">
                          <a:solidFill>
                            <a:schemeClr val="dk1"/>
                          </a:solidFill>
                          <a:highlight>
                            <a:schemeClr val="lt1"/>
                          </a:highlight>
                        </a:rPr>
                        <a:t>.</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r>
              <a:tr h="1197075">
                <a:tc>
                  <a:txBody>
                    <a:bodyPr/>
                    <a:lstStyle/>
                    <a:p>
                      <a:pPr indent="0" lvl="0" marL="0" rtl="0" algn="l">
                        <a:spcBef>
                          <a:spcPts val="0"/>
                        </a:spcBef>
                        <a:spcAft>
                          <a:spcPts val="0"/>
                        </a:spcAft>
                        <a:buNone/>
                      </a:pPr>
                      <a:r>
                        <a:rPr b="1" lang="en" sz="1050">
                          <a:solidFill>
                            <a:schemeClr val="dk1"/>
                          </a:solidFill>
                          <a:highlight>
                            <a:schemeClr val="lt1"/>
                          </a:highlight>
                        </a:rPr>
                        <a:t>Reproduction Step (RS)</a:t>
                      </a:r>
                      <a:endParaRPr b="1"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Textual Description</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Component parser algorithm analyzes part-of-speech to extract operations and objects.</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marR="0" rtl="0" algn="l">
                        <a:lnSpc>
                          <a:spcPct val="120000"/>
                        </a:lnSpc>
                        <a:spcBef>
                          <a:spcPts val="0"/>
                        </a:spcBef>
                        <a:spcAft>
                          <a:spcPts val="0"/>
                        </a:spcAft>
                        <a:buNone/>
                      </a:pPr>
                      <a:r>
                        <a:rPr lang="en" sz="1050">
                          <a:solidFill>
                            <a:schemeClr val="dk1"/>
                          </a:solidFill>
                          <a:highlight>
                            <a:schemeClr val="lt1"/>
                          </a:highlight>
                        </a:rPr>
                        <a:t>Sequence of operations and objects (</a:t>
                      </a:r>
                      <a:r>
                        <a:rPr i="1" lang="en" sz="1250">
                          <a:solidFill>
                            <a:schemeClr val="dk1"/>
                          </a:solidFill>
                          <a:highlight>
                            <a:schemeClr val="lt1"/>
                          </a:highlight>
                          <a:latin typeface="Times New Roman"/>
                          <a:ea typeface="Times New Roman"/>
                          <a:cs typeface="Times New Roman"/>
                          <a:sym typeface="Times New Roman"/>
                        </a:rPr>
                        <a:t>RS</a:t>
                      </a:r>
                      <a:r>
                        <a:rPr lang="en" sz="1250">
                          <a:solidFill>
                            <a:schemeClr val="dk1"/>
                          </a:solidFill>
                          <a:highlight>
                            <a:schemeClr val="lt1"/>
                          </a:highlight>
                          <a:latin typeface="Times New Roman"/>
                          <a:ea typeface="Times New Roman"/>
                          <a:cs typeface="Times New Roman"/>
                          <a:sym typeface="Times New Roman"/>
                        </a:rPr>
                        <a:t>=⟨</a:t>
                      </a:r>
                      <a:r>
                        <a:rPr i="1" lang="en" sz="1250">
                          <a:solidFill>
                            <a:schemeClr val="dk1"/>
                          </a:solidFill>
                          <a:highlight>
                            <a:schemeClr val="lt1"/>
                          </a:highlight>
                          <a:latin typeface="Times New Roman"/>
                          <a:ea typeface="Times New Roman"/>
                          <a:cs typeface="Times New Roman"/>
                          <a:sym typeface="Times New Roman"/>
                        </a:rPr>
                        <a:t>S</a:t>
                      </a:r>
                      <a:r>
                        <a:rPr lang="en" sz="900">
                          <a:solidFill>
                            <a:schemeClr val="dk1"/>
                          </a:solidFill>
                          <a:highlight>
                            <a:schemeClr val="lt1"/>
                          </a:highlight>
                          <a:latin typeface="Times New Roman"/>
                          <a:ea typeface="Times New Roman"/>
                          <a:cs typeface="Times New Roman"/>
                          <a:sym typeface="Times New Roman"/>
                        </a:rPr>
                        <a:t>1, </a:t>
                      </a:r>
                      <a:r>
                        <a:rPr i="1" lang="en" sz="1250">
                          <a:solidFill>
                            <a:schemeClr val="dk1"/>
                          </a:solidFill>
                          <a:highlight>
                            <a:schemeClr val="lt1"/>
                          </a:highlight>
                          <a:latin typeface="Times New Roman"/>
                          <a:ea typeface="Times New Roman"/>
                          <a:cs typeface="Times New Roman"/>
                          <a:sym typeface="Times New Roman"/>
                        </a:rPr>
                        <a:t>S</a:t>
                      </a:r>
                      <a:r>
                        <a:rPr lang="en" sz="900">
                          <a:solidFill>
                            <a:schemeClr val="dk1"/>
                          </a:solidFill>
                          <a:highlight>
                            <a:schemeClr val="lt1"/>
                          </a:highlight>
                          <a:latin typeface="Times New Roman"/>
                          <a:ea typeface="Times New Roman"/>
                          <a:cs typeface="Times New Roman"/>
                          <a:sym typeface="Times New Roman"/>
                        </a:rPr>
                        <a:t>2,</a:t>
                      </a:r>
                      <a:r>
                        <a:rPr lang="en" sz="1250">
                          <a:solidFill>
                            <a:schemeClr val="dk1"/>
                          </a:solidFill>
                          <a:highlight>
                            <a:schemeClr val="lt1"/>
                          </a:highlight>
                          <a:latin typeface="Times New Roman"/>
                          <a:ea typeface="Times New Roman"/>
                          <a:cs typeface="Times New Roman"/>
                          <a:sym typeface="Times New Roman"/>
                        </a:rPr>
                        <a:t>,...,</a:t>
                      </a:r>
                      <a:r>
                        <a:rPr i="1" lang="en" sz="1250">
                          <a:solidFill>
                            <a:schemeClr val="dk1"/>
                          </a:solidFill>
                          <a:highlight>
                            <a:schemeClr val="lt1"/>
                          </a:highlight>
                          <a:latin typeface="Times New Roman"/>
                          <a:ea typeface="Times New Roman"/>
                          <a:cs typeface="Times New Roman"/>
                          <a:sym typeface="Times New Roman"/>
                        </a:rPr>
                        <a:t>S</a:t>
                      </a:r>
                      <a:r>
                        <a:rPr i="1" lang="en" sz="900">
                          <a:solidFill>
                            <a:schemeClr val="dk1"/>
                          </a:solidFill>
                          <a:highlight>
                            <a:schemeClr val="lt1"/>
                          </a:highlight>
                          <a:latin typeface="Times New Roman"/>
                          <a:ea typeface="Times New Roman"/>
                          <a:cs typeface="Times New Roman"/>
                          <a:sym typeface="Times New Roman"/>
                        </a:rPr>
                        <a:t>n</a:t>
                      </a:r>
                      <a:r>
                        <a:rPr lang="en" sz="1250">
                          <a:solidFill>
                            <a:schemeClr val="dk1"/>
                          </a:solidFill>
                          <a:highlight>
                            <a:schemeClr val="lt1"/>
                          </a:highlight>
                          <a:latin typeface="Times New Roman"/>
                          <a:ea typeface="Times New Roman"/>
                          <a:cs typeface="Times New Roman"/>
                          <a:sym typeface="Times New Roman"/>
                        </a:rPr>
                        <a:t>⟩</a:t>
                      </a:r>
                      <a:r>
                        <a:rPr lang="en" sz="1050">
                          <a:solidFill>
                            <a:schemeClr val="dk1"/>
                          </a:solidFill>
                          <a:highlight>
                            <a:schemeClr val="lt1"/>
                          </a:highlight>
                        </a:rPr>
                        <a:t>).</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r>
            </a:tbl>
          </a:graphicData>
        </a:graphic>
      </p:graphicFrame>
      <p:sp>
        <p:nvSpPr>
          <p:cNvPr id="211" name="Google Shape;211;p34"/>
          <p:cNvSpPr txBox="1"/>
          <p:nvPr/>
        </p:nvSpPr>
        <p:spPr>
          <a:xfrm>
            <a:off x="132125" y="3958225"/>
            <a:ext cx="79938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t>TextCNN </a:t>
            </a:r>
            <a:r>
              <a:rPr b="1" lang="en" sz="1200"/>
              <a:t>Classify sentences into:</a:t>
            </a:r>
            <a:endParaRPr b="1" sz="1200"/>
          </a:p>
          <a:p>
            <a:pPr indent="0" lvl="0" marL="0" rtl="0" algn="l">
              <a:spcBef>
                <a:spcPts val="0"/>
              </a:spcBef>
              <a:spcAft>
                <a:spcPts val="0"/>
              </a:spcAft>
              <a:buNone/>
            </a:pPr>
            <a:r>
              <a:rPr lang="en" sz="1200"/>
              <a:t>   - Bug Description (what went wrong)</a:t>
            </a:r>
            <a:endParaRPr sz="1200"/>
          </a:p>
          <a:p>
            <a:pPr indent="0" lvl="0" marL="0" rtl="0" algn="l">
              <a:spcBef>
                <a:spcPts val="0"/>
              </a:spcBef>
              <a:spcAft>
                <a:spcPts val="0"/>
              </a:spcAft>
              <a:buNone/>
            </a:pPr>
            <a:r>
              <a:rPr lang="en" sz="1200"/>
              <a:t>   - Reproduction Steps (how to trigger the bug)</a:t>
            </a:r>
            <a:endParaRPr sz="1200"/>
          </a:p>
          <a:p>
            <a:pPr indent="0" lvl="0" marL="0" rtl="0" algn="l">
              <a:spcBef>
                <a:spcPts val="0"/>
              </a:spcBef>
              <a:spcAft>
                <a:spcPts val="0"/>
              </a:spcAft>
              <a:buNone/>
            </a:pPr>
            <a:r>
              <a:rPr b="1" lang="en" sz="1200"/>
              <a:t>Extract semantic embeddings for similarity computation</a:t>
            </a:r>
            <a:endParaRPr b="1" sz="12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5"/>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Proposed Method (Feature Distance Aggregation)</a:t>
            </a:r>
            <a:endParaRPr/>
          </a:p>
        </p:txBody>
      </p:sp>
      <p:sp>
        <p:nvSpPr>
          <p:cNvPr id="217" name="Google Shape;217;p35"/>
          <p:cNvSpPr txBox="1"/>
          <p:nvPr/>
        </p:nvSpPr>
        <p:spPr>
          <a:xfrm>
            <a:off x="483875" y="946650"/>
            <a:ext cx="7632000" cy="19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250">
              <a:solidFill>
                <a:schemeClr val="dk1"/>
              </a:solidFill>
              <a:highlight>
                <a:schemeClr val="lt1"/>
              </a:highlight>
            </a:endParaRPr>
          </a:p>
          <a:p>
            <a:pPr indent="-307975" lvl="0" marL="457200" rtl="0" algn="l">
              <a:spcBef>
                <a:spcPts val="0"/>
              </a:spcBef>
              <a:spcAft>
                <a:spcPts val="0"/>
              </a:spcAft>
              <a:buClr>
                <a:schemeClr val="dk1"/>
              </a:buClr>
              <a:buSzPts val="1250"/>
              <a:buChar char="●"/>
            </a:pPr>
            <a:r>
              <a:rPr lang="en" sz="1250">
                <a:solidFill>
                  <a:schemeClr val="dk1"/>
                </a:solidFill>
                <a:highlight>
                  <a:schemeClr val="lt1"/>
                </a:highlight>
              </a:rPr>
              <a:t>When Images Available</a:t>
            </a:r>
            <a:endParaRPr sz="1250">
              <a:solidFill>
                <a:schemeClr val="dk1"/>
              </a:solidFill>
              <a:highlight>
                <a:schemeClr val="lt1"/>
              </a:highlight>
            </a:endParaRPr>
          </a:p>
          <a:p>
            <a:pPr indent="0" lvl="0" marL="0" rtl="0" algn="l">
              <a:spcBef>
                <a:spcPts val="0"/>
              </a:spcBef>
              <a:spcAft>
                <a:spcPts val="0"/>
              </a:spcAft>
              <a:buNone/>
            </a:pPr>
            <a:r>
              <a:t/>
            </a:r>
            <a:endParaRPr sz="1250">
              <a:solidFill>
                <a:schemeClr val="dk1"/>
              </a:solidFill>
              <a:highlight>
                <a:schemeClr val="lt1"/>
              </a:highlight>
            </a:endParaRPr>
          </a:p>
          <a:p>
            <a:pPr indent="0" lvl="0" marL="0" rtl="0" algn="l">
              <a:spcBef>
                <a:spcPts val="0"/>
              </a:spcBef>
              <a:spcAft>
                <a:spcPts val="0"/>
              </a:spcAft>
              <a:buNone/>
            </a:pPr>
            <a:r>
              <a:rPr lang="en" sz="1250">
                <a:solidFill>
                  <a:schemeClr val="dk1"/>
                </a:solidFill>
                <a:highlight>
                  <a:schemeClr val="lt1"/>
                </a:highlight>
              </a:rPr>
              <a:t>Similarity = (</a:t>
            </a:r>
            <a:r>
              <a:rPr lang="en" sz="1250">
                <a:solidFill>
                  <a:schemeClr val="dk1"/>
                </a:solidFill>
                <a:highlight>
                  <a:schemeClr val="lt1"/>
                </a:highlight>
              </a:rPr>
              <a:t>S_structure + S_vgg16 + S_text_problem + S_text_steps / 4</a:t>
            </a:r>
            <a:r>
              <a:rPr lang="en" sz="1250">
                <a:solidFill>
                  <a:schemeClr val="dk1"/>
                </a:solidFill>
                <a:highlight>
                  <a:schemeClr val="lt1"/>
                </a:highlight>
              </a:rPr>
              <a:t>)</a:t>
            </a:r>
            <a:endParaRPr sz="1250">
              <a:solidFill>
                <a:schemeClr val="dk1"/>
              </a:solidFill>
              <a:highlight>
                <a:schemeClr val="lt1"/>
              </a:highlight>
            </a:endParaRPr>
          </a:p>
          <a:p>
            <a:pPr indent="0" lvl="0" marL="0" rtl="0" algn="l">
              <a:spcBef>
                <a:spcPts val="0"/>
              </a:spcBef>
              <a:spcAft>
                <a:spcPts val="0"/>
              </a:spcAft>
              <a:buNone/>
            </a:pPr>
            <a:r>
              <a:t/>
            </a:r>
            <a:endParaRPr sz="1250">
              <a:solidFill>
                <a:schemeClr val="dk1"/>
              </a:solidFill>
              <a:highlight>
                <a:schemeClr val="lt1"/>
              </a:highlight>
            </a:endParaRPr>
          </a:p>
          <a:p>
            <a:pPr indent="-307975" lvl="0" marL="457200" rtl="0" algn="l">
              <a:spcBef>
                <a:spcPts val="0"/>
              </a:spcBef>
              <a:spcAft>
                <a:spcPts val="0"/>
              </a:spcAft>
              <a:buClr>
                <a:schemeClr val="dk1"/>
              </a:buClr>
              <a:buSzPts val="1250"/>
              <a:buChar char="●"/>
            </a:pPr>
            <a:r>
              <a:rPr lang="en" sz="1250">
                <a:solidFill>
                  <a:schemeClr val="dk1"/>
                </a:solidFill>
                <a:highlight>
                  <a:schemeClr val="lt1"/>
                </a:highlight>
              </a:rPr>
              <a:t>When No Images Available</a:t>
            </a:r>
            <a:endParaRPr sz="1250">
              <a:solidFill>
                <a:schemeClr val="dk1"/>
              </a:solidFill>
              <a:highlight>
                <a:schemeClr val="lt1"/>
              </a:highlight>
            </a:endParaRPr>
          </a:p>
          <a:p>
            <a:pPr indent="0" lvl="0" marL="457200" rtl="0" algn="l">
              <a:spcBef>
                <a:spcPts val="0"/>
              </a:spcBef>
              <a:spcAft>
                <a:spcPts val="0"/>
              </a:spcAft>
              <a:buNone/>
            </a:pPr>
            <a:r>
              <a:t/>
            </a:r>
            <a:endParaRPr sz="125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lang="en" sz="1250">
                <a:solidFill>
                  <a:schemeClr val="dk1"/>
                </a:solidFill>
                <a:highlight>
                  <a:schemeClr val="lt1"/>
                </a:highlight>
              </a:rPr>
              <a:t>Similarity = (S_text_problem + S_text_steps / 2)</a:t>
            </a:r>
            <a:endParaRPr sz="1250">
              <a:solidFill>
                <a:schemeClr val="dk1"/>
              </a:solidFill>
              <a:highlight>
                <a:schemeClr val="lt1"/>
              </a:highlight>
            </a:endParaRPr>
          </a:p>
          <a:p>
            <a:pPr indent="0" lvl="0" marL="457200" rtl="0" algn="l">
              <a:spcBef>
                <a:spcPts val="0"/>
              </a:spcBef>
              <a:spcAft>
                <a:spcPts val="0"/>
              </a:spcAft>
              <a:buNone/>
            </a:pPr>
            <a:r>
              <a:t/>
            </a:r>
            <a:endParaRPr sz="1250">
              <a:solidFill>
                <a:schemeClr val="dk1"/>
              </a:solidFill>
              <a:highlight>
                <a:schemeClr val="lt1"/>
              </a:highlight>
            </a:endParaRPr>
          </a:p>
        </p:txBody>
      </p:sp>
      <p:sp>
        <p:nvSpPr>
          <p:cNvPr id="218" name="Google Shape;218;p35"/>
          <p:cNvSpPr txBox="1"/>
          <p:nvPr/>
        </p:nvSpPr>
        <p:spPr>
          <a:xfrm>
            <a:off x="544250" y="3324475"/>
            <a:ext cx="8280300" cy="76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Normalization</a:t>
            </a:r>
            <a:endParaRPr b="1"/>
          </a:p>
          <a:p>
            <a:pPr indent="0" lvl="0" marL="0" rtl="0" algn="l">
              <a:spcBef>
                <a:spcPts val="0"/>
              </a:spcBef>
              <a:spcAft>
                <a:spcPts val="0"/>
              </a:spcAft>
              <a:buNone/>
            </a:pPr>
            <a:r>
              <a:rPr lang="en" sz="1200"/>
              <a:t>All distances normalized to [0, 1] using min-max scaling:</a:t>
            </a:r>
            <a:endParaRPr sz="1200"/>
          </a:p>
          <a:p>
            <a:pPr indent="0" lvl="0" marL="0" rtl="0" algn="l">
              <a:spcBef>
                <a:spcPts val="0"/>
              </a:spcBef>
              <a:spcAft>
                <a:spcPts val="0"/>
              </a:spcAft>
              <a:buNone/>
            </a:pPr>
            <a:r>
              <a:rPr lang="en" sz="1200"/>
              <a:t>normalized = (distance - min_distance) / (max_distance - min_distance</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6"/>
          <p:cNvSpPr txBox="1"/>
          <p:nvPr>
            <p:ph type="title"/>
          </p:nvPr>
        </p:nvSpPr>
        <p:spPr>
          <a:xfrm>
            <a:off x="544243" y="126133"/>
            <a:ext cx="7886700" cy="359203"/>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Dataset Description</a:t>
            </a:r>
            <a:endParaRPr/>
          </a:p>
        </p:txBody>
      </p:sp>
      <p:sp>
        <p:nvSpPr>
          <p:cNvPr id="224" name="Google Shape;224;p36"/>
          <p:cNvSpPr txBox="1"/>
          <p:nvPr>
            <p:ph idx="12" type="sldNum"/>
          </p:nvPr>
        </p:nvSpPr>
        <p:spPr>
          <a:xfrm>
            <a:off x="6715602" y="4767263"/>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25" name="Google Shape;225;p36"/>
          <p:cNvGraphicFramePr/>
          <p:nvPr/>
        </p:nvGraphicFramePr>
        <p:xfrm>
          <a:off x="846588" y="788750"/>
          <a:ext cx="3000000" cy="3000000"/>
        </p:xfrm>
        <a:graphic>
          <a:graphicData uri="http://schemas.openxmlformats.org/drawingml/2006/table">
            <a:tbl>
              <a:tblPr>
                <a:noFill/>
                <a:tableStyleId>{2F97E986-E154-4EDB-AE63-72809A1A8B18}</a:tableStyleId>
              </a:tblPr>
              <a:tblGrid>
                <a:gridCol w="1940375"/>
                <a:gridCol w="1940375"/>
                <a:gridCol w="1940375"/>
              </a:tblGrid>
              <a:tr h="521150">
                <a:tc>
                  <a:txBody>
                    <a:bodyPr/>
                    <a:lstStyle/>
                    <a:p>
                      <a:pPr indent="0" lvl="0" marL="0" rtl="0" algn="ctr">
                        <a:lnSpc>
                          <a:spcPct val="115000"/>
                        </a:lnSpc>
                        <a:spcBef>
                          <a:spcPts val="1200"/>
                        </a:spcBef>
                        <a:spcAft>
                          <a:spcPts val="1200"/>
                        </a:spcAft>
                        <a:buNone/>
                      </a:pPr>
                      <a:r>
                        <a:rPr b="1" lang="en" sz="1100"/>
                        <a:t>Property</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Filtered Subset</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Full Dataset</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65075">
                <a:tc>
                  <a:txBody>
                    <a:bodyPr/>
                    <a:lstStyle/>
                    <a:p>
                      <a:pPr indent="0" lvl="0" marL="0" rtl="0" algn="l">
                        <a:lnSpc>
                          <a:spcPct val="115000"/>
                        </a:lnSpc>
                        <a:spcBef>
                          <a:spcPts val="1200"/>
                        </a:spcBef>
                        <a:spcAft>
                          <a:spcPts val="1200"/>
                        </a:spcAft>
                        <a:buNone/>
                      </a:pPr>
                      <a:r>
                        <a:rPr b="1" lang="en" sz="1100"/>
                        <a:t>Total Bug Reports</a:t>
                      </a:r>
                      <a:r>
                        <a:rPr lang="en" sz="1100"/>
                        <a:t> (N)</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~600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~3,000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65075">
                <a:tc>
                  <a:txBody>
                    <a:bodyPr/>
                    <a:lstStyle/>
                    <a:p>
                      <a:pPr indent="0" lvl="0" marL="0" rtl="0" algn="l">
                        <a:lnSpc>
                          <a:spcPct val="115000"/>
                        </a:lnSpc>
                        <a:spcBef>
                          <a:spcPts val="1200"/>
                        </a:spcBef>
                        <a:spcAft>
                          <a:spcPts val="1200"/>
                        </a:spcAft>
                        <a:buNone/>
                      </a:pPr>
                      <a:r>
                        <a:rPr b="1" lang="en" sz="1100"/>
                        <a:t>Query Reports</a:t>
                      </a:r>
                      <a:r>
                        <a:rPr lang="en" sz="1100"/>
                        <a:t> (Q)</a:t>
                      </a:r>
                      <a:endParaRPr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125</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2,323</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65075">
                <a:tc>
                  <a:txBody>
                    <a:bodyPr/>
                    <a:lstStyle/>
                    <a:p>
                      <a:pPr indent="0" lvl="0" marL="0" rtl="0" algn="l">
                        <a:lnSpc>
                          <a:spcPct val="115000"/>
                        </a:lnSpc>
                        <a:spcBef>
                          <a:spcPts val="1200"/>
                        </a:spcBef>
                        <a:spcAft>
                          <a:spcPts val="1200"/>
                        </a:spcAft>
                        <a:buNone/>
                      </a:pPr>
                      <a:r>
                        <a:rPr b="1" lang="en" sz="1100"/>
                        <a:t>Reports with Images</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All queries</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Mixed</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565075">
                <a:tc>
                  <a:txBody>
                    <a:bodyPr/>
                    <a:lstStyle/>
                    <a:p>
                      <a:pPr indent="0" lvl="0" marL="0" rtl="0" algn="l">
                        <a:lnSpc>
                          <a:spcPct val="115000"/>
                        </a:lnSpc>
                        <a:spcBef>
                          <a:spcPts val="1200"/>
                        </a:spcBef>
                        <a:spcAft>
                          <a:spcPts val="1200"/>
                        </a:spcAft>
                        <a:buNone/>
                      </a:pPr>
                      <a:r>
                        <a:rPr b="1" lang="en" sz="1100"/>
                        <a:t>Ground Truth Groups</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Manually labeled</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Manually labeled</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7"/>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Data Structure</a:t>
            </a:r>
            <a:endParaRPr/>
          </a:p>
        </p:txBody>
      </p:sp>
      <p:sp>
        <p:nvSpPr>
          <p:cNvPr id="231" name="Google Shape;231;p37"/>
          <p:cNvSpPr txBox="1"/>
          <p:nvPr>
            <p:ph idx="12" type="sldNum"/>
          </p:nvPr>
        </p:nvSpPr>
        <p:spPr>
          <a:xfrm>
            <a:off x="6715602"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232" name="Google Shape;232;p37"/>
          <p:cNvSpPr txBox="1"/>
          <p:nvPr/>
        </p:nvSpPr>
        <p:spPr>
          <a:xfrm>
            <a:off x="815900" y="1086025"/>
            <a:ext cx="6665100" cy="169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Bug Report:</a:t>
            </a:r>
            <a:endParaRPr/>
          </a:p>
          <a:p>
            <a:pPr indent="0" lvl="0" marL="0" rtl="0" algn="l">
              <a:spcBef>
                <a:spcPts val="0"/>
              </a:spcBef>
              <a:spcAft>
                <a:spcPts val="0"/>
              </a:spcAft>
              <a:buNone/>
            </a:pPr>
            <a:r>
              <a:rPr lang="en"/>
              <a:t>├── ID: Unique identifier</a:t>
            </a:r>
            <a:endParaRPr/>
          </a:p>
          <a:p>
            <a:pPr indent="0" lvl="0" marL="0" rtl="0" algn="l">
              <a:spcBef>
                <a:spcPts val="0"/>
              </a:spcBef>
              <a:spcAft>
                <a:spcPts val="0"/>
              </a:spcAft>
              <a:buNone/>
            </a:pPr>
            <a:r>
              <a:rPr lang="en"/>
              <a:t>├── Description: Text content</a:t>
            </a:r>
            <a:endParaRPr/>
          </a:p>
          <a:p>
            <a:pPr indent="0" lvl="0" marL="0" rtl="0" algn="l">
              <a:spcBef>
                <a:spcPts val="0"/>
              </a:spcBef>
              <a:spcAft>
                <a:spcPts val="0"/>
              </a:spcAft>
              <a:buNone/>
            </a:pPr>
            <a:r>
              <a:rPr lang="en"/>
              <a:t>├── Screenshots: Binary image data</a:t>
            </a:r>
            <a:endParaRPr/>
          </a:p>
          <a:p>
            <a:pPr indent="0" lvl="0" marL="0" rtl="0" algn="l">
              <a:spcBef>
                <a:spcPts val="0"/>
              </a:spcBef>
              <a:spcAft>
                <a:spcPts val="0"/>
              </a:spcAft>
              <a:buNone/>
            </a:pPr>
            <a:r>
              <a:rPr lang="en"/>
              <a:t>├── UI Layout: XML structure</a:t>
            </a:r>
            <a:endParaRPr/>
          </a:p>
          <a:p>
            <a:pPr indent="0" lvl="0" marL="0" rtl="0" algn="l">
              <a:spcBef>
                <a:spcPts val="0"/>
              </a:spcBef>
              <a:spcAft>
                <a:spcPts val="0"/>
              </a:spcAft>
              <a:buNone/>
            </a:pPr>
            <a:r>
              <a:rPr lang="en"/>
              <a:t>├── Repository: Source project</a:t>
            </a:r>
            <a:endParaRPr/>
          </a:p>
          <a:p>
            <a:pPr indent="0" lvl="0" marL="0" rtl="0" algn="l">
              <a:spcBef>
                <a:spcPts val="0"/>
              </a:spcBef>
              <a:spcAft>
                <a:spcPts val="0"/>
              </a:spcAft>
              <a:buNone/>
            </a:pPr>
            <a:r>
              <a:rPr lang="en"/>
              <a:t>└── Ground Truth: Duplicate group ID</a:t>
            </a:r>
            <a:endParaRPr/>
          </a:p>
        </p:txBody>
      </p:sp>
      <p:sp>
        <p:nvSpPr>
          <p:cNvPr id="233" name="Google Shape;233;p37"/>
          <p:cNvSpPr txBox="1"/>
          <p:nvPr/>
        </p:nvSpPr>
        <p:spPr>
          <a:xfrm>
            <a:off x="1334150" y="3236050"/>
            <a:ext cx="56286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 Collected from Android open-source projects</a:t>
            </a:r>
            <a:endParaRPr/>
          </a:p>
          <a:p>
            <a:pPr indent="0" lvl="0" marL="0" rtl="0" algn="l">
              <a:spcBef>
                <a:spcPts val="0"/>
              </a:spcBef>
              <a:spcAft>
                <a:spcPts val="0"/>
              </a:spcAft>
              <a:buNone/>
            </a:pPr>
            <a:r>
              <a:rPr lang="en"/>
              <a:t>- Time period: Year 1 corpus</a:t>
            </a:r>
            <a:endParaRPr/>
          </a:p>
          <a:p>
            <a:pPr indent="0" lvl="0" marL="0" rtl="0" algn="l">
              <a:spcBef>
                <a:spcPts val="0"/>
              </a:spcBef>
              <a:spcAft>
                <a:spcPts val="0"/>
              </a:spcAft>
              <a:buNone/>
            </a:pPr>
            <a:r>
              <a:rPr lang="en"/>
              <a:t>- Parquet format for efficient storage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8"/>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1200"/>
              </a:spcBef>
              <a:spcAft>
                <a:spcPts val="1200"/>
              </a:spcAft>
              <a:buClr>
                <a:schemeClr val="dk1"/>
              </a:buClr>
              <a:buSzPts val="1100"/>
              <a:buFont typeface="Arial"/>
              <a:buNone/>
            </a:pPr>
            <a:r>
              <a:rPr lang="en" sz="1700">
                <a:latin typeface="Arial"/>
                <a:ea typeface="Arial"/>
                <a:cs typeface="Arial"/>
                <a:sym typeface="Arial"/>
              </a:rPr>
              <a:t>Retrieval Evaluation: Process &amp; Metrics</a:t>
            </a:r>
            <a:endParaRPr sz="3000"/>
          </a:p>
        </p:txBody>
      </p:sp>
      <p:sp>
        <p:nvSpPr>
          <p:cNvPr id="239" name="Google Shape;239;p38"/>
          <p:cNvSpPr txBox="1"/>
          <p:nvPr>
            <p:ph idx="1" type="body"/>
          </p:nvPr>
        </p:nvSpPr>
        <p:spPr>
          <a:xfrm>
            <a:off x="544250" y="970800"/>
            <a:ext cx="7987800" cy="2989500"/>
          </a:xfrm>
          <a:prstGeom prst="rect">
            <a:avLst/>
          </a:prstGeom>
          <a:noFill/>
          <a:ln>
            <a:noFill/>
          </a:ln>
        </p:spPr>
        <p:txBody>
          <a:bodyPr anchorCtr="0" anchor="t" bIns="34275" lIns="68575" spcFirstLastPara="1" rIns="68575" wrap="square" tIns="34275">
            <a:normAutofit fontScale="85000" lnSpcReduction="20000"/>
          </a:bodyPr>
          <a:lstStyle/>
          <a:p>
            <a:pPr indent="0" lvl="0" marL="0" rtl="0" algn="l">
              <a:lnSpc>
                <a:spcPct val="115000"/>
              </a:lnSpc>
              <a:spcBef>
                <a:spcPts val="1200"/>
              </a:spcBef>
              <a:spcAft>
                <a:spcPts val="0"/>
              </a:spcAft>
              <a:buNone/>
            </a:pPr>
            <a:r>
              <a:rPr lang="en" sz="1100"/>
              <a:t>We will iterate through each issue report, treating it as a query to calculate ranking quality:</a:t>
            </a:r>
            <a:endParaRPr sz="1100"/>
          </a:p>
          <a:p>
            <a:pPr indent="-287972" lvl="0" marL="457200" rtl="0" algn="l">
              <a:lnSpc>
                <a:spcPct val="115000"/>
              </a:lnSpc>
              <a:spcBef>
                <a:spcPts val="1200"/>
              </a:spcBef>
              <a:spcAft>
                <a:spcPts val="0"/>
              </a:spcAft>
              <a:buSzPct val="100000"/>
              <a:buAutoNum type="arabicPeriod"/>
            </a:pPr>
            <a:r>
              <a:rPr b="1" lang="en" sz="1100"/>
              <a:t>Query:</a:t>
            </a:r>
            <a:r>
              <a:rPr lang="en" sz="1100"/>
              <a:t> Each report ID in the dataset is selected as a query.</a:t>
            </a:r>
            <a:endParaRPr sz="1100"/>
          </a:p>
          <a:p>
            <a:pPr indent="-287972" lvl="0" marL="457200" rtl="0" algn="l">
              <a:lnSpc>
                <a:spcPct val="115000"/>
              </a:lnSpc>
              <a:spcBef>
                <a:spcPts val="0"/>
              </a:spcBef>
              <a:spcAft>
                <a:spcPts val="0"/>
              </a:spcAft>
              <a:buSzPct val="100000"/>
              <a:buAutoNum type="arabicPeriod"/>
            </a:pPr>
            <a:r>
              <a:rPr b="1" lang="en" sz="1100"/>
              <a:t>Rank:</a:t>
            </a:r>
            <a:r>
              <a:rPr lang="en" sz="1100"/>
              <a:t> The </a:t>
            </a:r>
            <a:r>
              <a:rPr b="1" lang="en" sz="1100"/>
              <a:t>Similarity Matrix</a:t>
            </a:r>
            <a:r>
              <a:rPr lang="en" sz="1100"/>
              <a:t> is used to sort all other reports from most similar (lowest score) to least similar.</a:t>
            </a:r>
            <a:endParaRPr sz="1100"/>
          </a:p>
          <a:p>
            <a:pPr indent="-287972" lvl="0" marL="457200" rtl="0" algn="l">
              <a:lnSpc>
                <a:spcPct val="115000"/>
              </a:lnSpc>
              <a:spcBef>
                <a:spcPts val="0"/>
              </a:spcBef>
              <a:spcAft>
                <a:spcPts val="0"/>
              </a:spcAft>
              <a:buSzPct val="100000"/>
              <a:buAutoNum type="arabicPeriod"/>
            </a:pPr>
            <a:r>
              <a:rPr b="1" lang="en" sz="1100"/>
              <a:t>Compare:</a:t>
            </a:r>
            <a:r>
              <a:rPr lang="en" sz="1100"/>
              <a:t> This ranked list is compared against the </a:t>
            </a:r>
            <a:r>
              <a:rPr b="1" lang="en" sz="1100"/>
              <a:t>Ground Truth</a:t>
            </a:r>
            <a:r>
              <a:rPr lang="en" sz="1100"/>
              <a:t> to identify known duplicates.</a:t>
            </a:r>
            <a:endParaRPr sz="1100"/>
          </a:p>
          <a:p>
            <a:pPr indent="-287972" lvl="0" marL="457200" rtl="0" algn="l">
              <a:lnSpc>
                <a:spcPct val="115000"/>
              </a:lnSpc>
              <a:spcBef>
                <a:spcPts val="0"/>
              </a:spcBef>
              <a:spcAft>
                <a:spcPts val="0"/>
              </a:spcAft>
              <a:buSzPct val="100000"/>
              <a:buAutoNum type="arabicPeriod"/>
            </a:pPr>
            <a:r>
              <a:rPr b="1" lang="en" sz="1100"/>
              <a:t>Aggregate:</a:t>
            </a:r>
            <a:r>
              <a:rPr lang="en" sz="1100"/>
              <a:t> Scores (MRR, MAP, HITS@k) are calculated for each query and then averaged to produce the final, overall metrics.</a:t>
            </a:r>
            <a:endParaRPr sz="1100"/>
          </a:p>
          <a:p>
            <a:pPr indent="0" lvl="0" marL="0" rtl="0" algn="l">
              <a:lnSpc>
                <a:spcPct val="115000"/>
              </a:lnSpc>
              <a:spcBef>
                <a:spcPts val="1200"/>
              </a:spcBef>
              <a:spcAft>
                <a:spcPts val="0"/>
              </a:spcAft>
              <a:buNone/>
            </a:pPr>
            <a:r>
              <a:rPr b="1" lang="en" sz="1700"/>
              <a:t>Key Output Metrics</a:t>
            </a:r>
            <a:endParaRPr b="1" sz="1700"/>
          </a:p>
          <a:p>
            <a:pPr indent="0" lvl="0" marL="0" rtl="0" algn="l">
              <a:lnSpc>
                <a:spcPct val="115000"/>
              </a:lnSpc>
              <a:spcBef>
                <a:spcPts val="1200"/>
              </a:spcBef>
              <a:spcAft>
                <a:spcPts val="0"/>
              </a:spcAft>
              <a:buNone/>
            </a:pPr>
            <a:r>
              <a:rPr lang="en" sz="1100"/>
              <a:t>The final output is a set of numerical scores that quantify the system's ranking quality:</a:t>
            </a:r>
            <a:endParaRPr sz="1100"/>
          </a:p>
          <a:p>
            <a:pPr indent="-287972" lvl="0" marL="457200" rtl="0" algn="l">
              <a:lnSpc>
                <a:spcPct val="115000"/>
              </a:lnSpc>
              <a:spcBef>
                <a:spcPts val="1200"/>
              </a:spcBef>
              <a:spcAft>
                <a:spcPts val="0"/>
              </a:spcAft>
              <a:buSzPct val="100000"/>
              <a:buChar char="●"/>
            </a:pPr>
            <a:r>
              <a:rPr b="1" lang="en" sz="1100"/>
              <a:t>MRR (Mean Reciprocal Rank)</a:t>
            </a:r>
            <a:endParaRPr b="1" sz="1100"/>
          </a:p>
          <a:p>
            <a:pPr indent="-287972" lvl="1" marL="914400" rtl="0" algn="l">
              <a:lnSpc>
                <a:spcPct val="115000"/>
              </a:lnSpc>
              <a:spcBef>
                <a:spcPts val="0"/>
              </a:spcBef>
              <a:spcAft>
                <a:spcPts val="0"/>
              </a:spcAft>
              <a:buSzPct val="100000"/>
              <a:buChar char="○"/>
            </a:pPr>
            <a:r>
              <a:rPr b="1" lang="en" sz="1100"/>
              <a:t>What it is:</a:t>
            </a:r>
            <a:r>
              <a:rPr lang="en" sz="1100"/>
              <a:t> Measures the average rank of the </a:t>
            </a:r>
            <a:r>
              <a:rPr i="1" lang="en" sz="1100"/>
              <a:t>first</a:t>
            </a:r>
            <a:r>
              <a:rPr lang="en" sz="1100"/>
              <a:t> correct duplicate.</a:t>
            </a:r>
            <a:endParaRPr sz="1100"/>
          </a:p>
          <a:p>
            <a:pPr indent="-287972" lvl="1" marL="914400" rtl="0" algn="l">
              <a:lnSpc>
                <a:spcPct val="115000"/>
              </a:lnSpc>
              <a:spcBef>
                <a:spcPts val="0"/>
              </a:spcBef>
              <a:spcAft>
                <a:spcPts val="0"/>
              </a:spcAft>
              <a:buSzPct val="100000"/>
              <a:buChar char="○"/>
            </a:pPr>
            <a:r>
              <a:rPr b="1" lang="en" sz="1100"/>
              <a:t>Example Value:</a:t>
            </a:r>
            <a:r>
              <a:rPr lang="en" sz="1100"/>
              <a:t> </a:t>
            </a:r>
            <a:r>
              <a:rPr lang="en" sz="1100">
                <a:solidFill>
                  <a:schemeClr val="accent1"/>
                </a:solidFill>
                <a:latin typeface="Roboto Mono"/>
                <a:ea typeface="Roboto Mono"/>
                <a:cs typeface="Roboto Mono"/>
                <a:sym typeface="Roboto Mono"/>
              </a:rPr>
              <a:t>0.8333</a:t>
            </a:r>
            <a:endParaRPr sz="1100">
              <a:solidFill>
                <a:schemeClr val="accent1"/>
              </a:solidFill>
              <a:latin typeface="Roboto Mono"/>
              <a:ea typeface="Roboto Mono"/>
              <a:cs typeface="Roboto Mono"/>
              <a:sym typeface="Roboto Mono"/>
            </a:endParaRPr>
          </a:p>
          <a:p>
            <a:pPr indent="-287972" lvl="0" marL="457200" rtl="0" algn="l">
              <a:lnSpc>
                <a:spcPct val="115000"/>
              </a:lnSpc>
              <a:spcBef>
                <a:spcPts val="0"/>
              </a:spcBef>
              <a:spcAft>
                <a:spcPts val="0"/>
              </a:spcAft>
              <a:buSzPct val="100000"/>
              <a:buChar char="●"/>
            </a:pPr>
            <a:r>
              <a:rPr b="1" lang="en" sz="1100"/>
              <a:t>MAP (Mean Average Precision)</a:t>
            </a:r>
            <a:endParaRPr b="1" sz="1100"/>
          </a:p>
          <a:p>
            <a:pPr indent="-287972" lvl="1" marL="914400" rtl="0" algn="l">
              <a:lnSpc>
                <a:spcPct val="115000"/>
              </a:lnSpc>
              <a:spcBef>
                <a:spcPts val="0"/>
              </a:spcBef>
              <a:spcAft>
                <a:spcPts val="0"/>
              </a:spcAft>
              <a:buSzPct val="100000"/>
              <a:buChar char="○"/>
            </a:pPr>
            <a:r>
              <a:rPr b="1" lang="en" sz="1100"/>
              <a:t>What it is:</a:t>
            </a:r>
            <a:r>
              <a:rPr lang="en" sz="1100"/>
              <a:t> Rewards the system for ranking </a:t>
            </a:r>
            <a:r>
              <a:rPr i="1" lang="en" sz="1100"/>
              <a:t>all</a:t>
            </a:r>
            <a:r>
              <a:rPr lang="en" sz="1100"/>
              <a:t> true duplicates highly.</a:t>
            </a:r>
            <a:endParaRPr sz="1100"/>
          </a:p>
          <a:p>
            <a:pPr indent="-287972" lvl="1" marL="914400" rtl="0" algn="l">
              <a:lnSpc>
                <a:spcPct val="115000"/>
              </a:lnSpc>
              <a:spcBef>
                <a:spcPts val="0"/>
              </a:spcBef>
              <a:spcAft>
                <a:spcPts val="0"/>
              </a:spcAft>
              <a:buSzPct val="100000"/>
              <a:buChar char="○"/>
            </a:pPr>
            <a:r>
              <a:rPr b="1" lang="en" sz="1100"/>
              <a:t>Example Value:</a:t>
            </a:r>
            <a:r>
              <a:rPr lang="en" sz="1100"/>
              <a:t> </a:t>
            </a:r>
            <a:r>
              <a:rPr lang="en" sz="1100">
                <a:solidFill>
                  <a:schemeClr val="accent1"/>
                </a:solidFill>
                <a:latin typeface="Roboto Mono"/>
                <a:ea typeface="Roboto Mono"/>
                <a:cs typeface="Roboto Mono"/>
                <a:sym typeface="Roboto Mono"/>
              </a:rPr>
              <a:t>0.7500</a:t>
            </a:r>
            <a:endParaRPr sz="1100">
              <a:solidFill>
                <a:schemeClr val="accent1"/>
              </a:solidFill>
              <a:latin typeface="Roboto Mono"/>
              <a:ea typeface="Roboto Mono"/>
              <a:cs typeface="Roboto Mono"/>
              <a:sym typeface="Roboto Mono"/>
            </a:endParaRPr>
          </a:p>
          <a:p>
            <a:pPr indent="-287972" lvl="0" marL="457200" rtl="0" algn="l">
              <a:lnSpc>
                <a:spcPct val="115000"/>
              </a:lnSpc>
              <a:spcBef>
                <a:spcPts val="0"/>
              </a:spcBef>
              <a:spcAft>
                <a:spcPts val="0"/>
              </a:spcAft>
              <a:buSzPct val="100000"/>
              <a:buChar char="●"/>
            </a:pPr>
            <a:r>
              <a:rPr b="1" lang="en" sz="1100"/>
              <a:t>HITS@k</a:t>
            </a:r>
            <a:endParaRPr b="1" sz="1100"/>
          </a:p>
          <a:p>
            <a:pPr indent="-287972" lvl="1" marL="914400" rtl="0" algn="l">
              <a:lnSpc>
                <a:spcPct val="115000"/>
              </a:lnSpc>
              <a:spcBef>
                <a:spcPts val="0"/>
              </a:spcBef>
              <a:spcAft>
                <a:spcPts val="0"/>
              </a:spcAft>
              <a:buSzPct val="100000"/>
              <a:buChar char="○"/>
            </a:pPr>
            <a:r>
              <a:rPr b="1" lang="en" sz="1100"/>
              <a:t>What it is:</a:t>
            </a:r>
            <a:r>
              <a:rPr lang="en" sz="1100"/>
              <a:t> The percentage of queries where a true duplicate is found within the top </a:t>
            </a:r>
            <a:r>
              <a:rPr i="1" lang="en" sz="1100"/>
              <a:t>k</a:t>
            </a:r>
            <a:r>
              <a:rPr lang="en" sz="1100"/>
              <a:t> results.</a:t>
            </a:r>
            <a:endParaRPr sz="1100"/>
          </a:p>
          <a:p>
            <a:pPr indent="-287972" lvl="1" marL="914400" rtl="0" algn="l">
              <a:lnSpc>
                <a:spcPct val="115000"/>
              </a:lnSpc>
              <a:spcBef>
                <a:spcPts val="0"/>
              </a:spcBef>
              <a:spcAft>
                <a:spcPts val="0"/>
              </a:spcAft>
              <a:buSzPct val="100000"/>
              <a:buChar char="○"/>
            </a:pPr>
            <a:r>
              <a:rPr b="1" lang="en" sz="1100"/>
              <a:t>Example Value:</a:t>
            </a:r>
            <a:r>
              <a:rPr lang="en" sz="1100"/>
              <a:t> </a:t>
            </a:r>
            <a:r>
              <a:rPr lang="en" sz="1100">
                <a:solidFill>
                  <a:schemeClr val="accent1"/>
                </a:solidFill>
                <a:highlight>
                  <a:schemeClr val="lt1"/>
                </a:highlight>
                <a:latin typeface="Roboto Mono"/>
                <a:ea typeface="Roboto Mono"/>
                <a:cs typeface="Roboto Mono"/>
                <a:sym typeface="Roboto Mono"/>
              </a:rPr>
              <a:t>K= 1: 1.0000</a:t>
            </a:r>
            <a:r>
              <a:rPr lang="en" sz="1100">
                <a:solidFill>
                  <a:schemeClr val="accent1"/>
                </a:solidFill>
                <a:highlight>
                  <a:schemeClr val="lt1"/>
                </a:highlight>
              </a:rPr>
              <a:t>, </a:t>
            </a:r>
            <a:r>
              <a:rPr lang="en" sz="1100">
                <a:solidFill>
                  <a:schemeClr val="accent1"/>
                </a:solidFill>
                <a:highlight>
                  <a:schemeClr val="lt1"/>
                </a:highlight>
                <a:latin typeface="Roboto Mono"/>
                <a:ea typeface="Roboto Mono"/>
                <a:cs typeface="Roboto Mono"/>
                <a:sym typeface="Roboto Mono"/>
              </a:rPr>
              <a:t>K= 5: 1.0000</a:t>
            </a:r>
            <a:endParaRPr sz="1100">
              <a:solidFill>
                <a:schemeClr val="accent1"/>
              </a:solidFill>
              <a:highlight>
                <a:schemeClr val="lt1"/>
              </a:highlight>
            </a:endParaRPr>
          </a:p>
        </p:txBody>
      </p:sp>
      <p:sp>
        <p:nvSpPr>
          <p:cNvPr id="240" name="Google Shape;240;p38"/>
          <p:cNvSpPr txBox="1"/>
          <p:nvPr>
            <p:ph idx="12" type="sldNum"/>
          </p:nvPr>
        </p:nvSpPr>
        <p:spPr>
          <a:xfrm>
            <a:off x="6715602"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9"/>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1200"/>
              </a:spcBef>
              <a:spcAft>
                <a:spcPts val="1200"/>
              </a:spcAft>
              <a:buClr>
                <a:schemeClr val="dk1"/>
              </a:buClr>
              <a:buSzPts val="1100"/>
              <a:buFont typeface="Arial"/>
              <a:buNone/>
            </a:pPr>
            <a:r>
              <a:rPr lang="en" sz="1700">
                <a:latin typeface="Arial"/>
                <a:ea typeface="Arial"/>
                <a:cs typeface="Arial"/>
                <a:sym typeface="Arial"/>
              </a:rPr>
              <a:t>Retrieval Evaluation: Results</a:t>
            </a:r>
            <a:endParaRPr sz="3000"/>
          </a:p>
        </p:txBody>
      </p:sp>
      <p:sp>
        <p:nvSpPr>
          <p:cNvPr id="246" name="Google Shape;246;p39"/>
          <p:cNvSpPr txBox="1"/>
          <p:nvPr>
            <p:ph idx="1" type="body"/>
          </p:nvPr>
        </p:nvSpPr>
        <p:spPr>
          <a:xfrm>
            <a:off x="544250" y="970800"/>
            <a:ext cx="7987800" cy="710700"/>
          </a:xfrm>
          <a:prstGeom prst="rect">
            <a:avLst/>
          </a:prstGeom>
          <a:noFill/>
          <a:ln>
            <a:noFill/>
          </a:ln>
        </p:spPr>
        <p:txBody>
          <a:bodyPr anchorCtr="0" anchor="t" bIns="34275" lIns="68575" spcFirstLastPara="1" rIns="68575" wrap="square" tIns="34275">
            <a:normAutofit/>
          </a:bodyPr>
          <a:lstStyle/>
          <a:p>
            <a:pPr indent="0" lvl="0" marL="0" rtl="0" algn="l">
              <a:lnSpc>
                <a:spcPct val="115000"/>
              </a:lnSpc>
              <a:spcBef>
                <a:spcPts val="1200"/>
              </a:spcBef>
              <a:spcAft>
                <a:spcPts val="0"/>
              </a:spcAft>
              <a:buNone/>
            </a:pPr>
            <a:r>
              <a:rPr lang="en" sz="1100"/>
              <a:t>We iterate through each issue report, treating it as a query to calculate ranking quality:</a:t>
            </a:r>
            <a:endParaRPr sz="1100"/>
          </a:p>
          <a:p>
            <a:pPr indent="0" lvl="0" marL="0" rtl="0" algn="l">
              <a:lnSpc>
                <a:spcPct val="115000"/>
              </a:lnSpc>
              <a:spcBef>
                <a:spcPts val="1200"/>
              </a:spcBef>
              <a:spcAft>
                <a:spcPts val="1200"/>
              </a:spcAft>
              <a:buNone/>
            </a:pPr>
            <a:r>
              <a:t/>
            </a:r>
            <a:endParaRPr sz="1100">
              <a:solidFill>
                <a:schemeClr val="accent1"/>
              </a:solidFill>
              <a:highlight>
                <a:schemeClr val="lt1"/>
              </a:highlight>
            </a:endParaRPr>
          </a:p>
        </p:txBody>
      </p:sp>
      <p:sp>
        <p:nvSpPr>
          <p:cNvPr id="247" name="Google Shape;247;p39"/>
          <p:cNvSpPr txBox="1"/>
          <p:nvPr>
            <p:ph idx="12" type="sldNum"/>
          </p:nvPr>
        </p:nvSpPr>
        <p:spPr>
          <a:xfrm>
            <a:off x="6715602"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48" name="Google Shape;248;p39"/>
          <p:cNvGraphicFramePr/>
          <p:nvPr/>
        </p:nvGraphicFramePr>
        <p:xfrm>
          <a:off x="544300" y="1483350"/>
          <a:ext cx="3000000" cy="3000000"/>
        </p:xfrm>
        <a:graphic>
          <a:graphicData uri="http://schemas.openxmlformats.org/drawingml/2006/table">
            <a:tbl>
              <a:tblPr>
                <a:noFill/>
                <a:tableStyleId>{2F97E986-E154-4EDB-AE63-72809A1A8B18}</a:tableStyleId>
              </a:tblPr>
              <a:tblGrid>
                <a:gridCol w="1537550"/>
                <a:gridCol w="1031300"/>
                <a:gridCol w="862525"/>
                <a:gridCol w="862525"/>
                <a:gridCol w="1181300"/>
                <a:gridCol w="1181300"/>
                <a:gridCol w="1331300"/>
              </a:tblGrid>
              <a:tr h="212625">
                <a:tc>
                  <a:txBody>
                    <a:bodyPr/>
                    <a:lstStyle/>
                    <a:p>
                      <a:pPr indent="0" lvl="0" marL="0" rtl="0" algn="ctr">
                        <a:lnSpc>
                          <a:spcPct val="115000"/>
                        </a:lnSpc>
                        <a:spcBef>
                          <a:spcPts val="1200"/>
                        </a:spcBef>
                        <a:spcAft>
                          <a:spcPts val="1200"/>
                        </a:spcAft>
                        <a:buNone/>
                      </a:pPr>
                      <a:r>
                        <a:rPr b="1" lang="en" sz="1100"/>
                        <a:t>Dataset</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Queries</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MRR</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MAP</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HITS@1</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HITS@5</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HITS@10</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1200"/>
                        </a:spcBef>
                        <a:spcAft>
                          <a:spcPts val="1200"/>
                        </a:spcAft>
                        <a:buNone/>
                      </a:pPr>
                      <a:r>
                        <a:rPr b="1" lang="en" sz="1100"/>
                        <a:t>FILTERED</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125</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t>0.1703</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t>0.1647</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10.40%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20.80%</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a:t>32.80%</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1200"/>
                        </a:spcBef>
                        <a:spcAft>
                          <a:spcPts val="1200"/>
                        </a:spcAft>
                        <a:buNone/>
                      </a:pPr>
                      <a:r>
                        <a:rPr b="1" lang="en" sz="1100"/>
                        <a:t>FULL</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2,323</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0.0845</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0.0731</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4.74%</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9.73%</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a:t>14.59%</a:t>
                      </a:r>
                      <a:endParaRPr b="1"/>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0"/>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lnSpc>
                <a:spcPct val="115000"/>
              </a:lnSpc>
              <a:spcBef>
                <a:spcPts val="1200"/>
              </a:spcBef>
              <a:spcAft>
                <a:spcPts val="1200"/>
              </a:spcAft>
              <a:buClr>
                <a:schemeClr val="dk1"/>
              </a:buClr>
              <a:buSzPts val="1100"/>
              <a:buFont typeface="Arial"/>
              <a:buNone/>
            </a:pPr>
            <a:r>
              <a:rPr lang="en" sz="1700">
                <a:latin typeface="Arial"/>
                <a:ea typeface="Arial"/>
                <a:cs typeface="Arial"/>
                <a:sym typeface="Arial"/>
              </a:rPr>
              <a:t>Retrieval Evaluation: Results (Experiment 2)</a:t>
            </a:r>
            <a:endParaRPr sz="3000"/>
          </a:p>
        </p:txBody>
      </p:sp>
      <p:sp>
        <p:nvSpPr>
          <p:cNvPr id="254" name="Google Shape;254;p40"/>
          <p:cNvSpPr txBox="1"/>
          <p:nvPr>
            <p:ph idx="1" type="body"/>
          </p:nvPr>
        </p:nvSpPr>
        <p:spPr>
          <a:xfrm>
            <a:off x="544250" y="970800"/>
            <a:ext cx="7987800" cy="699600"/>
          </a:xfrm>
          <a:prstGeom prst="rect">
            <a:avLst/>
          </a:prstGeom>
          <a:noFill/>
          <a:ln>
            <a:noFill/>
          </a:ln>
        </p:spPr>
        <p:txBody>
          <a:bodyPr anchorCtr="0" anchor="t" bIns="34275" lIns="68575" spcFirstLastPara="1" rIns="68575" wrap="square" tIns="34275">
            <a:normAutofit/>
          </a:bodyPr>
          <a:lstStyle/>
          <a:p>
            <a:pPr indent="0" lvl="0" marL="0" rtl="0" algn="l">
              <a:lnSpc>
                <a:spcPct val="115000"/>
              </a:lnSpc>
              <a:spcBef>
                <a:spcPts val="1200"/>
              </a:spcBef>
              <a:spcAft>
                <a:spcPts val="0"/>
              </a:spcAft>
              <a:buNone/>
            </a:pPr>
            <a:r>
              <a:rPr lang="en" sz="1100"/>
              <a:t>Experiment 2: Learned Feature Weights</a:t>
            </a:r>
            <a:endParaRPr sz="1100"/>
          </a:p>
          <a:p>
            <a:pPr indent="0" lvl="0" marL="0" rtl="0" algn="l">
              <a:lnSpc>
                <a:spcPct val="115000"/>
              </a:lnSpc>
              <a:spcBef>
                <a:spcPts val="1200"/>
              </a:spcBef>
              <a:spcAft>
                <a:spcPts val="1200"/>
              </a:spcAft>
              <a:buNone/>
            </a:pPr>
            <a:r>
              <a:rPr lang="en" sz="1100"/>
              <a:t>Optimized Weights: BB=8.0, RS=0.5, SF=0.7, CF=0.3</a:t>
            </a:r>
            <a:endParaRPr sz="1100"/>
          </a:p>
        </p:txBody>
      </p:sp>
      <p:sp>
        <p:nvSpPr>
          <p:cNvPr id="255" name="Google Shape;255;p40"/>
          <p:cNvSpPr txBox="1"/>
          <p:nvPr>
            <p:ph idx="12" type="sldNum"/>
          </p:nvPr>
        </p:nvSpPr>
        <p:spPr>
          <a:xfrm>
            <a:off x="6715602"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256" name="Google Shape;256;p40"/>
          <p:cNvGraphicFramePr/>
          <p:nvPr/>
        </p:nvGraphicFramePr>
        <p:xfrm>
          <a:off x="544250" y="1764500"/>
          <a:ext cx="3000000" cy="3000000"/>
        </p:xfrm>
        <a:graphic>
          <a:graphicData uri="http://schemas.openxmlformats.org/drawingml/2006/table">
            <a:tbl>
              <a:tblPr>
                <a:noFill/>
                <a:tableStyleId>{2F97E986-E154-4EDB-AE63-72809A1A8B18}</a:tableStyleId>
              </a:tblPr>
              <a:tblGrid>
                <a:gridCol w="1537550"/>
                <a:gridCol w="1031300"/>
                <a:gridCol w="862525"/>
                <a:gridCol w="862525"/>
                <a:gridCol w="1181300"/>
                <a:gridCol w="1181300"/>
                <a:gridCol w="1331300"/>
              </a:tblGrid>
              <a:tr h="468675">
                <a:tc>
                  <a:txBody>
                    <a:bodyPr/>
                    <a:lstStyle/>
                    <a:p>
                      <a:pPr indent="0" lvl="0" marL="0" rtl="0" algn="ctr">
                        <a:lnSpc>
                          <a:spcPct val="115000"/>
                        </a:lnSpc>
                        <a:spcBef>
                          <a:spcPts val="1200"/>
                        </a:spcBef>
                        <a:spcAft>
                          <a:spcPts val="1200"/>
                        </a:spcAft>
                        <a:buNone/>
                      </a:pPr>
                      <a:r>
                        <a:rPr b="1" lang="en" sz="1100"/>
                        <a:t>Dataset</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MRR</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MAP</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HITS@1</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HITS@5</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HITS@10</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ctr">
                        <a:lnSpc>
                          <a:spcPct val="115000"/>
                        </a:lnSpc>
                        <a:spcBef>
                          <a:spcPts val="1200"/>
                        </a:spcBef>
                        <a:spcAft>
                          <a:spcPts val="1200"/>
                        </a:spcAft>
                        <a:buNone/>
                      </a:pPr>
                      <a:r>
                        <a:rPr b="1" lang="en" sz="1100"/>
                        <a:t>Dataset</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1200"/>
                        </a:spcBef>
                        <a:spcAft>
                          <a:spcPts val="1200"/>
                        </a:spcAft>
                        <a:buNone/>
                      </a:pPr>
                      <a:r>
                        <a:rPr b="1" lang="en" sz="1100"/>
                        <a:t>FILTERED (Weighted)</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0.1602</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0.1495</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8.06%</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lang="en"/>
                        <a:t>18.55%</a:t>
                      </a:r>
                      <a:endParaRPr/>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t>36.29%</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t>FILTERED (Weighted)</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r h="190500">
                <a:tc>
                  <a:txBody>
                    <a:bodyPr/>
                    <a:lstStyle/>
                    <a:p>
                      <a:pPr indent="0" lvl="0" marL="0" rtl="0" algn="l">
                        <a:lnSpc>
                          <a:spcPct val="115000"/>
                        </a:lnSpc>
                        <a:spcBef>
                          <a:spcPts val="1200"/>
                        </a:spcBef>
                        <a:spcAft>
                          <a:spcPts val="1200"/>
                        </a:spcAft>
                        <a:buNone/>
                      </a:pPr>
                      <a:r>
                        <a:rPr b="1" lang="en" sz="1100"/>
                        <a:t>FULL (Weighted)</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t>0.0883</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t>0.0685</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t>5.10%</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t>10.30%</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t>15.25%</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c>
                  <a:txBody>
                    <a:bodyPr/>
                    <a:lstStyle/>
                    <a:p>
                      <a:pPr indent="0" lvl="0" marL="0" rtl="0" algn="l">
                        <a:lnSpc>
                          <a:spcPct val="115000"/>
                        </a:lnSpc>
                        <a:spcBef>
                          <a:spcPts val="1200"/>
                        </a:spcBef>
                        <a:spcAft>
                          <a:spcPts val="1200"/>
                        </a:spcAft>
                        <a:buNone/>
                      </a:pPr>
                      <a:r>
                        <a:rPr b="1" lang="en" sz="1100"/>
                        <a:t>FULL (Weighted)</a:t>
                      </a:r>
                      <a:endParaRPr b="1" sz="1100"/>
                    </a:p>
                  </a:txBody>
                  <a:tcPr marT="91425" marB="91425" marR="91425" marL="91425">
                    <a:lnL cap="flat" cmpd="sng" w="9525">
                      <a:solidFill>
                        <a:schemeClr val="dk1"/>
                      </a:solidFill>
                      <a:prstDash val="solid"/>
                      <a:round/>
                      <a:headEnd len="sm" w="sm" type="none"/>
                      <a:tailEnd len="sm" w="sm" type="none"/>
                    </a:lnL>
                    <a:lnR cap="flat" cmpd="sng" w="9525">
                      <a:solidFill>
                        <a:schemeClr val="dk1"/>
                      </a:solidFill>
                      <a:prstDash val="solid"/>
                      <a:round/>
                      <a:headEnd len="sm" w="sm" type="none"/>
                      <a:tailEnd len="sm" w="sm" type="none"/>
                    </a:lnR>
                    <a:lnT cap="flat" cmpd="sng" w="9525">
                      <a:solidFill>
                        <a:schemeClr val="dk1"/>
                      </a:solidFill>
                      <a:prstDash val="solid"/>
                      <a:round/>
                      <a:headEnd len="sm" w="sm" type="none"/>
                      <a:tailEnd len="sm" w="sm" type="none"/>
                    </a:lnT>
                    <a:lnB cap="flat" cmpd="sng" w="9525">
                      <a:solidFill>
                        <a:schemeClr val="dk1"/>
                      </a:solidFill>
                      <a:prstDash val="solid"/>
                      <a:round/>
                      <a:headEnd len="sm" w="sm" type="none"/>
                      <a:tailEnd len="sm" w="sm" type="none"/>
                    </a:lnB>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1"/>
          <p:cNvSpPr txBox="1"/>
          <p:nvPr>
            <p:ph type="title"/>
          </p:nvPr>
        </p:nvSpPr>
        <p:spPr>
          <a:xfrm>
            <a:off x="544243" y="126133"/>
            <a:ext cx="7886700" cy="359203"/>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Observation &amp; Interpretation</a:t>
            </a:r>
            <a:endParaRPr/>
          </a:p>
        </p:txBody>
      </p:sp>
      <p:sp>
        <p:nvSpPr>
          <p:cNvPr id="262" name="Google Shape;262;p41"/>
          <p:cNvSpPr txBox="1"/>
          <p:nvPr>
            <p:ph idx="1" type="body"/>
          </p:nvPr>
        </p:nvSpPr>
        <p:spPr>
          <a:xfrm>
            <a:off x="544250" y="791306"/>
            <a:ext cx="7971000" cy="912300"/>
          </a:xfrm>
          <a:prstGeom prst="rect">
            <a:avLst/>
          </a:prstGeom>
          <a:noFill/>
          <a:ln>
            <a:noFill/>
          </a:ln>
        </p:spPr>
        <p:txBody>
          <a:bodyPr anchorCtr="0" anchor="t" bIns="34275" lIns="68575" spcFirstLastPara="1" rIns="68575" wrap="square" tIns="34275">
            <a:normAutofit/>
          </a:bodyPr>
          <a:lstStyle/>
          <a:p>
            <a:pPr indent="-304800" lvl="0" marL="457200" rtl="0" algn="l">
              <a:lnSpc>
                <a:spcPct val="90000"/>
              </a:lnSpc>
              <a:spcBef>
                <a:spcPts val="400"/>
              </a:spcBef>
              <a:spcAft>
                <a:spcPts val="0"/>
              </a:spcAft>
              <a:buSzPts val="1200"/>
              <a:buChar char="•"/>
            </a:pPr>
            <a:r>
              <a:rPr lang="en" sz="1200"/>
              <a:t>FILTERED dataset (image-only queries) performs 2 times better than FULL</a:t>
            </a:r>
            <a:endParaRPr sz="1200"/>
          </a:p>
          <a:p>
            <a:pPr indent="-304800" lvl="0" marL="457200" rtl="0" algn="l">
              <a:lnSpc>
                <a:spcPct val="90000"/>
              </a:lnSpc>
              <a:spcBef>
                <a:spcPts val="0"/>
              </a:spcBef>
              <a:spcAft>
                <a:spcPts val="0"/>
              </a:spcAft>
              <a:buSzPts val="1200"/>
              <a:buChar char="•"/>
            </a:pPr>
            <a:r>
              <a:rPr lang="en" sz="1200"/>
              <a:t>HITS@10 = 32.80% means ~1/3 of duplicates found in top 10</a:t>
            </a:r>
            <a:endParaRPr sz="1200"/>
          </a:p>
          <a:p>
            <a:pPr indent="-304800" lvl="0" marL="457200" rtl="0" algn="l">
              <a:lnSpc>
                <a:spcPct val="90000"/>
              </a:lnSpc>
              <a:spcBef>
                <a:spcPts val="0"/>
              </a:spcBef>
              <a:spcAft>
                <a:spcPts val="0"/>
              </a:spcAft>
              <a:buSzPts val="1200"/>
              <a:buChar char="•"/>
            </a:pPr>
            <a:r>
              <a:rPr lang="en" sz="1200"/>
              <a:t>Performance degrades significantly with larger corpus (FULL)</a:t>
            </a:r>
            <a:endParaRPr sz="1381"/>
          </a:p>
          <a:p>
            <a:pPr indent="0" lvl="0" marL="0" rtl="0" algn="l">
              <a:lnSpc>
                <a:spcPct val="90000"/>
              </a:lnSpc>
              <a:spcBef>
                <a:spcPts val="400"/>
              </a:spcBef>
              <a:spcAft>
                <a:spcPts val="0"/>
              </a:spcAft>
              <a:buNone/>
            </a:pPr>
            <a:r>
              <a:t/>
            </a:r>
            <a:endParaRPr sz="1200"/>
          </a:p>
        </p:txBody>
      </p:sp>
      <p:sp>
        <p:nvSpPr>
          <p:cNvPr id="263" name="Google Shape;263;p41"/>
          <p:cNvSpPr txBox="1"/>
          <p:nvPr>
            <p:ph idx="12" type="sldNum"/>
          </p:nvPr>
        </p:nvSpPr>
        <p:spPr>
          <a:xfrm>
            <a:off x="6715602" y="4767263"/>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
        <p:nvSpPr>
          <p:cNvPr id="264" name="Google Shape;264;p41"/>
          <p:cNvSpPr txBox="1"/>
          <p:nvPr/>
        </p:nvSpPr>
        <p:spPr>
          <a:xfrm>
            <a:off x="544250" y="1888350"/>
            <a:ext cx="7824300" cy="849600"/>
          </a:xfrm>
          <a:prstGeom prst="rect">
            <a:avLst/>
          </a:prstGeom>
          <a:noFill/>
          <a:ln>
            <a:noFill/>
          </a:ln>
        </p:spPr>
        <p:txBody>
          <a:bodyPr anchorCtr="0" anchor="t" bIns="91425" lIns="91425" spcFirstLastPara="1" rIns="91425" wrap="square" tIns="91425">
            <a:spAutoFit/>
          </a:bodyPr>
          <a:lstStyle/>
          <a:p>
            <a:pPr indent="-304800" lvl="0" marL="457200" rtl="0" algn="l">
              <a:lnSpc>
                <a:spcPct val="90000"/>
              </a:lnSpc>
              <a:spcBef>
                <a:spcPts val="400"/>
              </a:spcBef>
              <a:spcAft>
                <a:spcPts val="0"/>
              </a:spcAft>
              <a:buClr>
                <a:schemeClr val="dk1"/>
              </a:buClr>
              <a:buSzPts val="1200"/>
              <a:buChar char="●"/>
            </a:pPr>
            <a:r>
              <a:rPr lang="en" sz="1200">
                <a:solidFill>
                  <a:schemeClr val="dk1"/>
                </a:solidFill>
              </a:rPr>
              <a:t>Including images </a:t>
            </a:r>
            <a:r>
              <a:rPr b="1" lang="en" sz="1200">
                <a:solidFill>
                  <a:schemeClr val="dk1"/>
                </a:solidFill>
              </a:rPr>
              <a:t>does help</a:t>
            </a:r>
            <a:r>
              <a:rPr lang="en" sz="1200">
                <a:solidFill>
                  <a:schemeClr val="dk1"/>
                </a:solidFill>
              </a:rPr>
              <a:t> but improvement is modest</a:t>
            </a:r>
            <a:endParaRPr sz="1200">
              <a:solidFill>
                <a:schemeClr val="dk1"/>
              </a:solidFill>
            </a:endParaRPr>
          </a:p>
          <a:p>
            <a:pPr indent="-304800" lvl="0" marL="457200" rtl="0" algn="l">
              <a:lnSpc>
                <a:spcPct val="90000"/>
              </a:lnSpc>
              <a:spcBef>
                <a:spcPts val="0"/>
              </a:spcBef>
              <a:spcAft>
                <a:spcPts val="0"/>
              </a:spcAft>
              <a:buClr>
                <a:schemeClr val="dk1"/>
              </a:buClr>
              <a:buSzPts val="1200"/>
              <a:buChar char="●"/>
            </a:pPr>
            <a:r>
              <a:rPr lang="en" sz="1200">
                <a:solidFill>
                  <a:schemeClr val="dk1"/>
                </a:solidFill>
              </a:rPr>
              <a:t>VGG-16 ImageNet features may not transfer perfectly to UI screenshots</a:t>
            </a:r>
            <a:endParaRPr sz="1200">
              <a:solidFill>
                <a:schemeClr val="dk1"/>
              </a:solidFill>
            </a:endParaRPr>
          </a:p>
          <a:p>
            <a:pPr indent="-304800" lvl="0" marL="457200" rtl="0" algn="l">
              <a:lnSpc>
                <a:spcPct val="90000"/>
              </a:lnSpc>
              <a:spcBef>
                <a:spcPts val="0"/>
              </a:spcBef>
              <a:spcAft>
                <a:spcPts val="0"/>
              </a:spcAft>
              <a:buClr>
                <a:schemeClr val="dk1"/>
              </a:buClr>
              <a:buSzPts val="1200"/>
              <a:buChar char="●"/>
            </a:pPr>
            <a:r>
              <a:rPr lang="en" sz="1200">
                <a:solidFill>
                  <a:schemeClr val="dk1"/>
                </a:solidFill>
              </a:rPr>
              <a:t>Simple averaging fusion may not capture cross-modal interactions and Feature weights improves retrieval results slightly.(~32% to ~36% for the Filtered dataset)</a:t>
            </a:r>
            <a:endParaRPr sz="12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42"/>
          <p:cNvSpPr txBox="1"/>
          <p:nvPr>
            <p:ph type="title"/>
          </p:nvPr>
        </p:nvSpPr>
        <p:spPr>
          <a:xfrm>
            <a:off x="544243" y="126133"/>
            <a:ext cx="7886700" cy="359203"/>
          </a:xfrm>
          <a:prstGeom prst="rect">
            <a:avLst/>
          </a:prstGeom>
          <a:noFill/>
          <a:ln>
            <a:noFill/>
          </a:ln>
        </p:spPr>
        <p:txBody>
          <a:bodyPr anchorCtr="0" anchor="ctr" bIns="34275" lIns="68575" spcFirstLastPara="1" rIns="68575" wrap="square" tIns="34275">
            <a:normAutofit fontScale="90000"/>
          </a:bodyPr>
          <a:lstStyle/>
          <a:p>
            <a:pPr indent="0" lvl="0" marL="0" rtl="0" algn="l">
              <a:lnSpc>
                <a:spcPct val="90000"/>
              </a:lnSpc>
              <a:spcBef>
                <a:spcPts val="0"/>
              </a:spcBef>
              <a:spcAft>
                <a:spcPts val="0"/>
              </a:spcAft>
              <a:buClr>
                <a:schemeClr val="dk1"/>
              </a:buClr>
              <a:buSzPct val="100000"/>
              <a:buFont typeface="Microsoft YaHei"/>
              <a:buNone/>
            </a:pPr>
            <a:r>
              <a:rPr lang="en"/>
              <a:t>References</a:t>
            </a:r>
            <a:endParaRPr/>
          </a:p>
        </p:txBody>
      </p:sp>
      <p:sp>
        <p:nvSpPr>
          <p:cNvPr id="270" name="Google Shape;270;p42"/>
          <p:cNvSpPr txBox="1"/>
          <p:nvPr>
            <p:ph idx="1" type="body"/>
          </p:nvPr>
        </p:nvSpPr>
        <p:spPr>
          <a:xfrm>
            <a:off x="544250" y="791300"/>
            <a:ext cx="7986900" cy="33159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None/>
            </a:pPr>
            <a:r>
              <a:rPr lang="en" sz="1260">
                <a:latin typeface="Times New Roman"/>
                <a:ea typeface="Times New Roman"/>
                <a:cs typeface="Times New Roman"/>
                <a:sym typeface="Times New Roman"/>
              </a:rPr>
              <a:t>[1] </a:t>
            </a:r>
            <a:r>
              <a:rPr lang="en" sz="1260">
                <a:latin typeface="Times New Roman"/>
                <a:ea typeface="Times New Roman"/>
                <a:cs typeface="Times New Roman"/>
                <a:sym typeface="Times New Roman"/>
              </a:rPr>
              <a:t>J. Johnson, J. Mahmud, T. Wendland, K. Moran, J. Rubin, and M. Fazzini, "An Empirical Investigation into the Reproduction of Bug Reports for Android Apps," 2022 IEEE International Conference on Software Analysis, Evolution and Reengineering (SANER), Honolulu, HI, USA, 2022, pp. 321-322, doi: 10.1109/SANER53432.2022.00048.</a:t>
            </a:r>
            <a:endParaRPr sz="1470"/>
          </a:p>
          <a:p>
            <a:pPr indent="0" lvl="0" marL="0" rtl="0" algn="l">
              <a:lnSpc>
                <a:spcPct val="100000"/>
              </a:lnSpc>
              <a:spcBef>
                <a:spcPts val="1200"/>
              </a:spcBef>
              <a:spcAft>
                <a:spcPts val="0"/>
              </a:spcAft>
              <a:buNone/>
            </a:pPr>
            <a:r>
              <a:rPr lang="en" sz="1260">
                <a:latin typeface="Times New Roman"/>
                <a:ea typeface="Times New Roman"/>
                <a:cs typeface="Times New Roman"/>
                <a:sym typeface="Times New Roman"/>
              </a:rPr>
              <a:t>[2] </a:t>
            </a:r>
            <a:r>
              <a:rPr lang="en" sz="1260">
                <a:latin typeface="Times New Roman"/>
                <a:ea typeface="Times New Roman"/>
                <a:cs typeface="Times New Roman"/>
                <a:sym typeface="Times New Roman"/>
              </a:rPr>
              <a:t>Hiroki Kuramoto, Masanari Kondo, Yutaro Kashiwa, Yuta Ishimoto, Kaze Shindo, Yasutaka Kamei, and Naoyasu Ubayashi. 2022. Do visual issue reports help developers fix bugs? A preliminary study of using videos and images to report issues on GitHub. In Proceedings of the 30th IEEE/ACM International Conference on Program Comprehension (ICPC '22)</a:t>
            </a:r>
            <a:endParaRPr sz="1260">
              <a:latin typeface="Times New Roman"/>
              <a:ea typeface="Times New Roman"/>
              <a:cs typeface="Times New Roman"/>
              <a:sym typeface="Times New Roman"/>
            </a:endParaRPr>
          </a:p>
          <a:p>
            <a:pPr indent="0" lvl="0" marL="0" rtl="0" algn="l">
              <a:lnSpc>
                <a:spcPct val="70000"/>
              </a:lnSpc>
              <a:spcBef>
                <a:spcPts val="1200"/>
              </a:spcBef>
              <a:spcAft>
                <a:spcPts val="0"/>
              </a:spcAft>
              <a:buNone/>
            </a:pPr>
            <a:r>
              <a:rPr lang="en" sz="1260">
                <a:latin typeface="Times New Roman"/>
                <a:ea typeface="Times New Roman"/>
                <a:cs typeface="Times New Roman"/>
                <a:sym typeface="Times New Roman"/>
              </a:rPr>
              <a:t>[3] Junjie Wang, Mingyang Li, Song Wang, Tim Menzies, and Qing Wang. 2019. Images don’t lie: Duplicate crowdtesting</a:t>
            </a:r>
            <a:endParaRPr sz="1260">
              <a:latin typeface="Times New Roman"/>
              <a:ea typeface="Times New Roman"/>
              <a:cs typeface="Times New Roman"/>
              <a:sym typeface="Times New Roman"/>
            </a:endParaRPr>
          </a:p>
          <a:p>
            <a:pPr indent="0" lvl="0" marL="0" rtl="0" algn="l">
              <a:lnSpc>
                <a:spcPct val="70000"/>
              </a:lnSpc>
              <a:spcBef>
                <a:spcPts val="1200"/>
              </a:spcBef>
              <a:spcAft>
                <a:spcPts val="0"/>
              </a:spcAft>
              <a:buNone/>
            </a:pPr>
            <a:r>
              <a:rPr lang="en" sz="1260">
                <a:latin typeface="Times New Roman"/>
                <a:ea typeface="Times New Roman"/>
                <a:cs typeface="Times New Roman"/>
                <a:sym typeface="Times New Roman"/>
              </a:rPr>
              <a:t>reports detection with screenshot information. Information and Software Technology 110 (2019), 139–155. </a:t>
            </a:r>
            <a:r>
              <a:rPr lang="en" sz="1260" u="sng">
                <a:solidFill>
                  <a:schemeClr val="hlink"/>
                </a:solidFill>
                <a:latin typeface="Times New Roman"/>
                <a:ea typeface="Times New Roman"/>
                <a:cs typeface="Times New Roman"/>
                <a:sym typeface="Times New Roman"/>
                <a:hlinkClick r:id="rId3"/>
              </a:rPr>
              <a:t>https://doi.org/10.1016/J.INFSOF.2019.03.003</a:t>
            </a:r>
            <a:endParaRPr sz="1260">
              <a:latin typeface="Times New Roman"/>
              <a:ea typeface="Times New Roman"/>
              <a:cs typeface="Times New Roman"/>
              <a:sym typeface="Times New Roman"/>
            </a:endParaRPr>
          </a:p>
          <a:p>
            <a:pPr indent="0" lvl="0" marL="0" rtl="0" algn="l">
              <a:lnSpc>
                <a:spcPct val="70000"/>
              </a:lnSpc>
              <a:spcBef>
                <a:spcPts val="1200"/>
              </a:spcBef>
              <a:spcAft>
                <a:spcPts val="0"/>
              </a:spcAft>
              <a:buNone/>
            </a:pPr>
            <a:r>
              <a:rPr lang="en" sz="1260">
                <a:latin typeface="Times New Roman"/>
                <a:ea typeface="Times New Roman"/>
                <a:cs typeface="Times New Roman"/>
                <a:sym typeface="Times New Roman"/>
              </a:rPr>
              <a:t>[4] Shengcheng Yu, Chunrong Fang, Quanjun Zhang, Mingzhe Du, Jia Liu, and Zhenyu Chen. 2024. Semi-</a:t>
            </a:r>
            <a:endParaRPr sz="1260">
              <a:latin typeface="Times New Roman"/>
              <a:ea typeface="Times New Roman"/>
              <a:cs typeface="Times New Roman"/>
              <a:sym typeface="Times New Roman"/>
            </a:endParaRPr>
          </a:p>
          <a:p>
            <a:pPr indent="0" lvl="0" marL="0" rtl="0" algn="l">
              <a:lnSpc>
                <a:spcPct val="70000"/>
              </a:lnSpc>
              <a:spcBef>
                <a:spcPts val="1200"/>
              </a:spcBef>
              <a:spcAft>
                <a:spcPts val="0"/>
              </a:spcAft>
              <a:buNone/>
            </a:pPr>
            <a:r>
              <a:rPr lang="en" sz="1260">
                <a:latin typeface="Times New Roman"/>
                <a:ea typeface="Times New Roman"/>
                <a:cs typeface="Times New Roman"/>
                <a:sym typeface="Times New Roman"/>
              </a:rPr>
              <a:t>supervised Crowdsourced Test Report Clustering via Screenshot-Text Binding Rules. Proc. ACM Softw. Eng. 1,</a:t>
            </a:r>
            <a:endParaRPr sz="1260">
              <a:latin typeface="Times New Roman"/>
              <a:ea typeface="Times New Roman"/>
              <a:cs typeface="Times New Roman"/>
              <a:sym typeface="Times New Roman"/>
            </a:endParaRPr>
          </a:p>
          <a:p>
            <a:pPr indent="0" lvl="0" marL="0" rtl="0" algn="l">
              <a:lnSpc>
                <a:spcPct val="70000"/>
              </a:lnSpc>
              <a:spcBef>
                <a:spcPts val="1200"/>
              </a:spcBef>
              <a:spcAft>
                <a:spcPts val="0"/>
              </a:spcAft>
              <a:buNone/>
            </a:pPr>
            <a:r>
              <a:rPr lang="en" sz="1260">
                <a:latin typeface="Times New Roman"/>
                <a:ea typeface="Times New Roman"/>
                <a:cs typeface="Times New Roman"/>
                <a:sym typeface="Times New Roman"/>
              </a:rPr>
              <a:t>FSE, Article 69 (July 2024), 24 pages. https://doi.org/10.1145/3660776</a:t>
            </a:r>
            <a:endParaRPr sz="1260">
              <a:latin typeface="Times New Roman"/>
              <a:ea typeface="Times New Roman"/>
              <a:cs typeface="Times New Roman"/>
              <a:sym typeface="Times New Roman"/>
            </a:endParaRPr>
          </a:p>
        </p:txBody>
      </p:sp>
      <p:sp>
        <p:nvSpPr>
          <p:cNvPr id="271" name="Google Shape;271;p42"/>
          <p:cNvSpPr txBox="1"/>
          <p:nvPr>
            <p:ph idx="12" type="sldNum"/>
          </p:nvPr>
        </p:nvSpPr>
        <p:spPr>
          <a:xfrm>
            <a:off x="6715602" y="4767263"/>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3"/>
          <p:cNvSpPr txBox="1"/>
          <p:nvPr>
            <p:ph type="title"/>
          </p:nvPr>
        </p:nvSpPr>
        <p:spPr>
          <a:xfrm>
            <a:off x="1439466" y="1006079"/>
            <a:ext cx="6172200" cy="432197"/>
          </a:xfrm>
          <a:prstGeom prst="rect">
            <a:avLst/>
          </a:prstGeom>
          <a:noFill/>
          <a:ln>
            <a:noFill/>
          </a:ln>
        </p:spPr>
        <p:txBody>
          <a:bodyPr anchorCtr="0" anchor="ctr" bIns="34275" lIns="68575" spcFirstLastPara="1" rIns="68575" wrap="square" tIns="34275">
            <a:normAutofit/>
          </a:bodyPr>
          <a:lstStyle/>
          <a:p>
            <a:pPr indent="0" lvl="0" marL="0" rtl="0" algn="ctr">
              <a:lnSpc>
                <a:spcPct val="90000"/>
              </a:lnSpc>
              <a:spcBef>
                <a:spcPts val="0"/>
              </a:spcBef>
              <a:spcAft>
                <a:spcPts val="0"/>
              </a:spcAft>
              <a:buClr>
                <a:schemeClr val="dk1"/>
              </a:buClr>
              <a:buSzPts val="2400"/>
              <a:buFont typeface="Microsoft Yahei"/>
              <a:buNone/>
            </a:pPr>
            <a:r>
              <a:rPr i="0" lang="en">
                <a:latin typeface="Microsoft Yahei"/>
                <a:ea typeface="Microsoft Yahei"/>
                <a:cs typeface="Microsoft Yahei"/>
                <a:sym typeface="Microsoft Yahei"/>
              </a:rPr>
              <a:t>Thank you </a:t>
            </a:r>
            <a:r>
              <a:rPr lang="en">
                <a:latin typeface="Microsoft Yahei"/>
                <a:ea typeface="Microsoft Yahei"/>
                <a:cs typeface="Microsoft Yahei"/>
                <a:sym typeface="Microsoft Yahei"/>
              </a:rPr>
              <a:t>so</a:t>
            </a:r>
            <a:r>
              <a:rPr i="0" lang="en">
                <a:latin typeface="Microsoft Yahei"/>
                <a:ea typeface="Microsoft Yahei"/>
                <a:cs typeface="Microsoft Yahei"/>
                <a:sym typeface="Microsoft Yahei"/>
              </a:rPr>
              <a:t> much!!!</a:t>
            </a:r>
            <a:endParaRPr/>
          </a:p>
        </p:txBody>
      </p:sp>
      <p:sp>
        <p:nvSpPr>
          <p:cNvPr id="277" name="Google Shape;277;p43"/>
          <p:cNvSpPr txBox="1"/>
          <p:nvPr>
            <p:ph idx="12" type="sldNum"/>
          </p:nvPr>
        </p:nvSpPr>
        <p:spPr>
          <a:xfrm>
            <a:off x="6715602" y="4767263"/>
            <a:ext cx="2057400"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pic>
        <p:nvPicPr>
          <p:cNvPr descr="图片1" id="278" name="Google Shape;278;p43"/>
          <p:cNvPicPr preferRelativeResize="0"/>
          <p:nvPr/>
        </p:nvPicPr>
        <p:blipFill rotWithShape="1">
          <a:blip r:embed="rId3">
            <a:alphaModFix/>
          </a:blip>
          <a:srcRect b="0" l="0" r="0" t="0"/>
          <a:stretch/>
        </p:blipFill>
        <p:spPr>
          <a:xfrm>
            <a:off x="2880598" y="1799272"/>
            <a:ext cx="3545743" cy="2216468"/>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4"/>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Appendix (Terminologies)</a:t>
            </a:r>
            <a:endParaRPr/>
          </a:p>
        </p:txBody>
      </p:sp>
      <p:sp>
        <p:nvSpPr>
          <p:cNvPr id="284" name="Google Shape;284;p44"/>
          <p:cNvSpPr txBox="1"/>
          <p:nvPr>
            <p:ph idx="1" type="body"/>
          </p:nvPr>
        </p:nvSpPr>
        <p:spPr>
          <a:xfrm>
            <a:off x="544243" y="791308"/>
            <a:ext cx="7971000" cy="3841500"/>
          </a:xfrm>
          <a:prstGeom prst="rect">
            <a:avLst/>
          </a:prstGeom>
          <a:noFill/>
          <a:ln>
            <a:noFill/>
          </a:ln>
        </p:spPr>
        <p:txBody>
          <a:bodyPr anchorCtr="0" anchor="t" bIns="34275" lIns="68575" spcFirstLastPara="1" rIns="68575" wrap="square" tIns="34275">
            <a:normAutofit lnSpcReduction="20000"/>
          </a:bodyPr>
          <a:lstStyle/>
          <a:p>
            <a:pPr indent="0" lvl="0" marL="520700" rtl="0" algn="l">
              <a:lnSpc>
                <a:spcPct val="90000"/>
              </a:lnSpc>
              <a:spcBef>
                <a:spcPts val="400"/>
              </a:spcBef>
              <a:spcAft>
                <a:spcPts val="0"/>
              </a:spcAft>
              <a:buNone/>
            </a:pPr>
            <a:r>
              <a:rPr b="1" lang="en" sz="1400"/>
              <a:t>What is VGG-16?</a:t>
            </a:r>
            <a:endParaRPr b="1" sz="1400"/>
          </a:p>
          <a:p>
            <a:pPr indent="-139700" lvl="2" marL="863600" rtl="0" algn="l">
              <a:lnSpc>
                <a:spcPct val="90000"/>
              </a:lnSpc>
              <a:spcBef>
                <a:spcPts val="400"/>
              </a:spcBef>
              <a:spcAft>
                <a:spcPts val="0"/>
              </a:spcAft>
              <a:buSzPts val="800"/>
              <a:buChar char="•"/>
            </a:pPr>
            <a:r>
              <a:rPr lang="en" sz="1200"/>
              <a:t>Deep Convolutional Neural Network (16 layers)</a:t>
            </a:r>
            <a:endParaRPr sz="1200"/>
          </a:p>
          <a:p>
            <a:pPr indent="-139700" lvl="2" marL="863600" rtl="0" algn="l">
              <a:lnSpc>
                <a:spcPct val="90000"/>
              </a:lnSpc>
              <a:spcBef>
                <a:spcPts val="400"/>
              </a:spcBef>
              <a:spcAft>
                <a:spcPts val="0"/>
              </a:spcAft>
              <a:buSzPts val="800"/>
              <a:buChar char="•"/>
            </a:pPr>
            <a:r>
              <a:rPr lang="en" sz="1200"/>
              <a:t>Pre-trained on **ImageNet** (1.2M natural images, 1000 classes)</a:t>
            </a:r>
            <a:endParaRPr sz="1200"/>
          </a:p>
          <a:p>
            <a:pPr indent="-139700" lvl="2" marL="863600" rtl="0" algn="l">
              <a:lnSpc>
                <a:spcPct val="90000"/>
              </a:lnSpc>
              <a:spcBef>
                <a:spcPts val="400"/>
              </a:spcBef>
              <a:spcAft>
                <a:spcPts val="0"/>
              </a:spcAft>
              <a:buSzPts val="800"/>
              <a:buChar char="•"/>
            </a:pPr>
            <a:r>
              <a:rPr lang="en" sz="1200"/>
              <a:t>Extracts hierarchical visual features</a:t>
            </a:r>
            <a:endParaRPr sz="1200"/>
          </a:p>
          <a:p>
            <a:pPr indent="0" lvl="0" marL="0" rtl="0" algn="l">
              <a:lnSpc>
                <a:spcPct val="90000"/>
              </a:lnSpc>
              <a:spcBef>
                <a:spcPts val="400"/>
              </a:spcBef>
              <a:spcAft>
                <a:spcPts val="0"/>
              </a:spcAft>
              <a:buNone/>
            </a:pPr>
            <a:r>
              <a:t/>
            </a:r>
            <a:endParaRPr sz="1200"/>
          </a:p>
          <a:p>
            <a:pPr indent="0" lvl="0" marL="520700" rtl="0" algn="l">
              <a:lnSpc>
                <a:spcPct val="90000"/>
              </a:lnSpc>
              <a:spcBef>
                <a:spcPts val="400"/>
              </a:spcBef>
              <a:spcAft>
                <a:spcPts val="0"/>
              </a:spcAft>
              <a:buNone/>
            </a:pPr>
            <a:r>
              <a:rPr b="1" lang="en" sz="1400"/>
              <a:t>Architecture</a:t>
            </a:r>
            <a:endParaRPr b="1" sz="1400"/>
          </a:p>
          <a:p>
            <a:pPr indent="0" lvl="0" marL="1435100" rtl="0" algn="l">
              <a:lnSpc>
                <a:spcPct val="90000"/>
              </a:lnSpc>
              <a:spcBef>
                <a:spcPts val="400"/>
              </a:spcBef>
              <a:spcAft>
                <a:spcPts val="0"/>
              </a:spcAft>
              <a:buNone/>
            </a:pPr>
            <a:r>
              <a:rPr lang="en" sz="1200"/>
              <a:t>Input Image (224×224×3)</a:t>
            </a:r>
            <a:endParaRPr sz="1200"/>
          </a:p>
          <a:p>
            <a:pPr indent="0" lvl="0" marL="1435100" rtl="0" algn="l">
              <a:lnSpc>
                <a:spcPct val="90000"/>
              </a:lnSpc>
              <a:spcBef>
                <a:spcPts val="400"/>
              </a:spcBef>
              <a:spcAft>
                <a:spcPts val="0"/>
              </a:spcAft>
              <a:buNone/>
            </a:pPr>
            <a:r>
              <a:rPr lang="en" sz="1200"/>
              <a:t>   ↓</a:t>
            </a:r>
            <a:endParaRPr sz="1200"/>
          </a:p>
          <a:p>
            <a:pPr indent="0" lvl="0" marL="1435100" rtl="0" algn="l">
              <a:lnSpc>
                <a:spcPct val="90000"/>
              </a:lnSpc>
              <a:spcBef>
                <a:spcPts val="400"/>
              </a:spcBef>
              <a:spcAft>
                <a:spcPts val="0"/>
              </a:spcAft>
              <a:buNone/>
            </a:pPr>
            <a:r>
              <a:rPr lang="en" sz="1200"/>
              <a:t>[Conv3-64] × 2 → MaxPool</a:t>
            </a:r>
            <a:endParaRPr sz="1200"/>
          </a:p>
          <a:p>
            <a:pPr indent="0" lvl="0" marL="1435100" rtl="0" algn="l">
              <a:lnSpc>
                <a:spcPct val="90000"/>
              </a:lnSpc>
              <a:spcBef>
                <a:spcPts val="400"/>
              </a:spcBef>
              <a:spcAft>
                <a:spcPts val="0"/>
              </a:spcAft>
              <a:buNone/>
            </a:pPr>
            <a:r>
              <a:rPr lang="en" sz="1200"/>
              <a:t>   ↓</a:t>
            </a:r>
            <a:endParaRPr sz="1200"/>
          </a:p>
          <a:p>
            <a:pPr indent="0" lvl="0" marL="1435100" rtl="0" algn="l">
              <a:lnSpc>
                <a:spcPct val="90000"/>
              </a:lnSpc>
              <a:spcBef>
                <a:spcPts val="400"/>
              </a:spcBef>
              <a:spcAft>
                <a:spcPts val="0"/>
              </a:spcAft>
              <a:buNone/>
            </a:pPr>
            <a:r>
              <a:rPr lang="en" sz="1200"/>
              <a:t>[Conv3-128] × 2 → MaxPool</a:t>
            </a:r>
            <a:endParaRPr sz="1200"/>
          </a:p>
          <a:p>
            <a:pPr indent="0" lvl="0" marL="1435100" rtl="0" algn="l">
              <a:lnSpc>
                <a:spcPct val="90000"/>
              </a:lnSpc>
              <a:spcBef>
                <a:spcPts val="400"/>
              </a:spcBef>
              <a:spcAft>
                <a:spcPts val="0"/>
              </a:spcAft>
              <a:buNone/>
            </a:pPr>
            <a:r>
              <a:rPr lang="en" sz="1200"/>
              <a:t>    ↓</a:t>
            </a:r>
            <a:endParaRPr sz="1200"/>
          </a:p>
          <a:p>
            <a:pPr indent="0" lvl="0" marL="1435100" rtl="0" algn="l">
              <a:lnSpc>
                <a:spcPct val="90000"/>
              </a:lnSpc>
              <a:spcBef>
                <a:spcPts val="400"/>
              </a:spcBef>
              <a:spcAft>
                <a:spcPts val="0"/>
              </a:spcAft>
              <a:buNone/>
            </a:pPr>
            <a:r>
              <a:rPr lang="en" sz="1200"/>
              <a:t>[Conv3-256] × 3 → MaxPool</a:t>
            </a:r>
            <a:endParaRPr sz="1200"/>
          </a:p>
          <a:p>
            <a:pPr indent="0" lvl="0" marL="1435100" rtl="0" algn="l">
              <a:lnSpc>
                <a:spcPct val="90000"/>
              </a:lnSpc>
              <a:spcBef>
                <a:spcPts val="400"/>
              </a:spcBef>
              <a:spcAft>
                <a:spcPts val="0"/>
              </a:spcAft>
              <a:buNone/>
            </a:pPr>
            <a:r>
              <a:rPr lang="en" sz="1200"/>
              <a:t>    ↓</a:t>
            </a:r>
            <a:endParaRPr sz="1200"/>
          </a:p>
          <a:p>
            <a:pPr indent="0" lvl="0" marL="1435100" rtl="0" algn="l">
              <a:lnSpc>
                <a:spcPct val="90000"/>
              </a:lnSpc>
              <a:spcBef>
                <a:spcPts val="400"/>
              </a:spcBef>
              <a:spcAft>
                <a:spcPts val="0"/>
              </a:spcAft>
              <a:buNone/>
            </a:pPr>
            <a:r>
              <a:rPr lang="en" sz="1200"/>
              <a:t>[Conv3-512] × 3 → MaxPool</a:t>
            </a:r>
            <a:endParaRPr sz="1200"/>
          </a:p>
          <a:p>
            <a:pPr indent="0" lvl="0" marL="1435100" rtl="0" algn="l">
              <a:lnSpc>
                <a:spcPct val="90000"/>
              </a:lnSpc>
              <a:spcBef>
                <a:spcPts val="400"/>
              </a:spcBef>
              <a:spcAft>
                <a:spcPts val="0"/>
              </a:spcAft>
              <a:buNone/>
            </a:pPr>
            <a:r>
              <a:rPr lang="en" sz="1200"/>
              <a:t>    ↓</a:t>
            </a:r>
            <a:endParaRPr sz="1200"/>
          </a:p>
          <a:p>
            <a:pPr indent="0" lvl="0" marL="1435100" rtl="0" algn="l">
              <a:lnSpc>
                <a:spcPct val="90000"/>
              </a:lnSpc>
              <a:spcBef>
                <a:spcPts val="400"/>
              </a:spcBef>
              <a:spcAft>
                <a:spcPts val="0"/>
              </a:spcAft>
              <a:buNone/>
            </a:pPr>
            <a:r>
              <a:rPr lang="en" sz="1200"/>
              <a:t>[Conv3-512] × 3 → MaxPool</a:t>
            </a:r>
            <a:endParaRPr sz="1200"/>
          </a:p>
          <a:p>
            <a:pPr indent="0" lvl="0" marL="1435100" rtl="0" algn="l">
              <a:lnSpc>
                <a:spcPct val="90000"/>
              </a:lnSpc>
              <a:spcBef>
                <a:spcPts val="400"/>
              </a:spcBef>
              <a:spcAft>
                <a:spcPts val="0"/>
              </a:spcAft>
              <a:buNone/>
            </a:pPr>
            <a:r>
              <a:rPr lang="en" sz="1200"/>
              <a:t>    ↓</a:t>
            </a:r>
            <a:endParaRPr sz="1200"/>
          </a:p>
          <a:p>
            <a:pPr indent="0" lvl="0" marL="1435100" rtl="0" algn="l">
              <a:lnSpc>
                <a:spcPct val="90000"/>
              </a:lnSpc>
              <a:spcBef>
                <a:spcPts val="400"/>
              </a:spcBef>
              <a:spcAft>
                <a:spcPts val="0"/>
              </a:spcAft>
              <a:buNone/>
            </a:pPr>
            <a:r>
              <a:rPr lang="en" sz="1200"/>
              <a:t>Feature Vector (512-dim)</a:t>
            </a:r>
            <a:endParaRPr sz="1200"/>
          </a:p>
          <a:p>
            <a:pPr indent="0" lvl="0" marL="914400" rtl="0" algn="l">
              <a:lnSpc>
                <a:spcPct val="90000"/>
              </a:lnSpc>
              <a:spcBef>
                <a:spcPts val="400"/>
              </a:spcBef>
              <a:spcAft>
                <a:spcPts val="0"/>
              </a:spcAft>
              <a:buNone/>
            </a:pPr>
            <a:r>
              <a:t/>
            </a:r>
            <a:endParaRPr sz="1200"/>
          </a:p>
        </p:txBody>
      </p:sp>
      <p:sp>
        <p:nvSpPr>
          <p:cNvPr id="285" name="Google Shape;285;p44"/>
          <p:cNvSpPr txBox="1"/>
          <p:nvPr>
            <p:ph idx="12" type="sldNum"/>
          </p:nvPr>
        </p:nvSpPr>
        <p:spPr>
          <a:xfrm>
            <a:off x="6715602"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5"/>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Appendix (Terminologies)</a:t>
            </a:r>
            <a:endParaRPr/>
          </a:p>
        </p:txBody>
      </p:sp>
      <p:sp>
        <p:nvSpPr>
          <p:cNvPr id="291" name="Google Shape;291;p45"/>
          <p:cNvSpPr txBox="1"/>
          <p:nvPr>
            <p:ph idx="1" type="body"/>
          </p:nvPr>
        </p:nvSpPr>
        <p:spPr>
          <a:xfrm>
            <a:off x="544243" y="791308"/>
            <a:ext cx="7971000" cy="3841500"/>
          </a:xfrm>
          <a:prstGeom prst="rect">
            <a:avLst/>
          </a:prstGeom>
          <a:noFill/>
          <a:ln>
            <a:noFill/>
          </a:ln>
        </p:spPr>
        <p:txBody>
          <a:bodyPr anchorCtr="0" anchor="t" bIns="34275" lIns="68575" spcFirstLastPara="1" rIns="68575" wrap="square" tIns="34275">
            <a:normAutofit fontScale="85000" lnSpcReduction="20000"/>
          </a:bodyPr>
          <a:lstStyle/>
          <a:p>
            <a:pPr indent="-132080" lvl="2" marL="863600" rtl="0" algn="l">
              <a:lnSpc>
                <a:spcPct val="90000"/>
              </a:lnSpc>
              <a:spcBef>
                <a:spcPts val="400"/>
              </a:spcBef>
              <a:spcAft>
                <a:spcPts val="0"/>
              </a:spcAft>
              <a:buSzPct val="57142"/>
              <a:buChar char="•"/>
            </a:pPr>
            <a:r>
              <a:rPr b="1" lang="en" sz="1400"/>
              <a:t>What is TextCNN?</a:t>
            </a:r>
            <a:endParaRPr b="1" sz="1400"/>
          </a:p>
          <a:p>
            <a:pPr indent="-121284" lvl="2" marL="863600" rtl="0" algn="l">
              <a:lnSpc>
                <a:spcPct val="90000"/>
              </a:lnSpc>
              <a:spcBef>
                <a:spcPts val="400"/>
              </a:spcBef>
              <a:spcAft>
                <a:spcPts val="0"/>
              </a:spcAft>
              <a:buSzPct val="50000"/>
              <a:buChar char="•"/>
            </a:pPr>
            <a:r>
              <a:rPr lang="en" sz="1200"/>
              <a:t>Convolutional Neural Network for text classification</a:t>
            </a:r>
            <a:endParaRPr sz="1200"/>
          </a:p>
          <a:p>
            <a:pPr indent="-121284" lvl="2" marL="863600" rtl="0" algn="l">
              <a:lnSpc>
                <a:spcPct val="90000"/>
              </a:lnSpc>
              <a:spcBef>
                <a:spcPts val="400"/>
              </a:spcBef>
              <a:spcAft>
                <a:spcPts val="0"/>
              </a:spcAft>
              <a:buSzPct val="50000"/>
              <a:buChar char="•"/>
            </a:pPr>
            <a:r>
              <a:rPr lang="en" sz="1200"/>
              <a:t>Captures n-gram patterns effectively</a:t>
            </a:r>
            <a:endParaRPr sz="1200"/>
          </a:p>
          <a:p>
            <a:pPr indent="0" lvl="0" marL="0" rtl="0" algn="l">
              <a:lnSpc>
                <a:spcPct val="90000"/>
              </a:lnSpc>
              <a:spcBef>
                <a:spcPts val="400"/>
              </a:spcBef>
              <a:spcAft>
                <a:spcPts val="0"/>
              </a:spcAft>
              <a:buNone/>
            </a:pPr>
            <a:r>
              <a:t/>
            </a:r>
            <a:endParaRPr sz="1200"/>
          </a:p>
          <a:p>
            <a:pPr indent="0" lvl="0" marL="520700" rtl="0" algn="l">
              <a:lnSpc>
                <a:spcPct val="90000"/>
              </a:lnSpc>
              <a:spcBef>
                <a:spcPts val="400"/>
              </a:spcBef>
              <a:spcAft>
                <a:spcPts val="0"/>
              </a:spcAft>
              <a:buNone/>
            </a:pPr>
            <a:r>
              <a:rPr b="1" lang="en" sz="1400"/>
              <a:t>Architecture</a:t>
            </a:r>
            <a:endParaRPr b="1" sz="1400"/>
          </a:p>
          <a:p>
            <a:pPr indent="0" lvl="0" marL="1435100" rtl="0" algn="l">
              <a:lnSpc>
                <a:spcPct val="90000"/>
              </a:lnSpc>
              <a:spcBef>
                <a:spcPts val="400"/>
              </a:spcBef>
              <a:spcAft>
                <a:spcPts val="0"/>
              </a:spcAft>
              <a:buNone/>
            </a:pPr>
            <a:r>
              <a:rPr lang="en" sz="1200"/>
              <a:t>Input: "App crashes on login button"</a:t>
            </a:r>
            <a:endParaRPr sz="1200"/>
          </a:p>
          <a:p>
            <a:pPr indent="0" lvl="0" marL="1435100" rtl="0" algn="l">
              <a:lnSpc>
                <a:spcPct val="90000"/>
              </a:lnSpc>
              <a:spcBef>
                <a:spcPts val="400"/>
              </a:spcBef>
              <a:spcAft>
                <a:spcPts val="0"/>
              </a:spcAft>
              <a:buNone/>
            </a:pPr>
            <a:r>
              <a:rPr lang="en" sz="1200"/>
              <a:t>                      ↓</a:t>
            </a:r>
            <a:endParaRPr sz="1200"/>
          </a:p>
          <a:p>
            <a:pPr indent="0" lvl="0" marL="1435100" rtl="0" algn="l">
              <a:lnSpc>
                <a:spcPct val="90000"/>
              </a:lnSpc>
              <a:spcBef>
                <a:spcPts val="400"/>
              </a:spcBef>
              <a:spcAft>
                <a:spcPts val="0"/>
              </a:spcAft>
              <a:buNone/>
            </a:pPr>
            <a:r>
              <a:rPr lang="en" sz="1200"/>
              <a:t>Word Embeddings (Word2Vec 100-dim)</a:t>
            </a:r>
            <a:endParaRPr sz="1200"/>
          </a:p>
          <a:p>
            <a:pPr indent="0" lvl="0" marL="1435100" rtl="0" algn="l">
              <a:lnSpc>
                <a:spcPct val="90000"/>
              </a:lnSpc>
              <a:spcBef>
                <a:spcPts val="400"/>
              </a:spcBef>
              <a:spcAft>
                <a:spcPts val="0"/>
              </a:spcAft>
              <a:buNone/>
            </a:pPr>
            <a:r>
              <a:rPr lang="en" sz="1200"/>
              <a:t>                      ↓</a:t>
            </a:r>
            <a:endParaRPr sz="1200"/>
          </a:p>
          <a:p>
            <a:pPr indent="0" lvl="0" marL="1435100" rtl="0" algn="l">
              <a:lnSpc>
                <a:spcPct val="90000"/>
              </a:lnSpc>
              <a:spcBef>
                <a:spcPts val="400"/>
              </a:spcBef>
              <a:spcAft>
                <a:spcPts val="0"/>
              </a:spcAft>
              <a:buNone/>
            </a:pPr>
            <a:r>
              <a:rPr lang="en" sz="1200"/>
              <a:t>    ┌──────┼──────┐</a:t>
            </a:r>
            <a:endParaRPr sz="1200"/>
          </a:p>
          <a:p>
            <a:pPr indent="0" lvl="0" marL="1435100" rtl="0" algn="l">
              <a:lnSpc>
                <a:spcPct val="90000"/>
              </a:lnSpc>
              <a:spcBef>
                <a:spcPts val="400"/>
              </a:spcBef>
              <a:spcAft>
                <a:spcPts val="0"/>
              </a:spcAft>
              <a:buNone/>
            </a:pPr>
            <a:r>
              <a:rPr lang="en" sz="1200"/>
              <a:t>    ▼              ▼     	   ▼</a:t>
            </a:r>
            <a:endParaRPr sz="1200"/>
          </a:p>
          <a:p>
            <a:pPr indent="0" lvl="0" marL="1435100" rtl="0" algn="l">
              <a:lnSpc>
                <a:spcPct val="90000"/>
              </a:lnSpc>
              <a:spcBef>
                <a:spcPts val="400"/>
              </a:spcBef>
              <a:spcAft>
                <a:spcPts val="0"/>
              </a:spcAft>
              <a:buNone/>
            </a:pPr>
            <a:r>
              <a:rPr lang="en" sz="1200"/>
              <a:t> Conv1D  Conv1D  Conv1D</a:t>
            </a:r>
            <a:endParaRPr sz="1200"/>
          </a:p>
          <a:p>
            <a:pPr indent="0" lvl="0" marL="1435100" rtl="0" algn="l">
              <a:lnSpc>
                <a:spcPct val="90000"/>
              </a:lnSpc>
              <a:spcBef>
                <a:spcPts val="400"/>
              </a:spcBef>
              <a:spcAft>
                <a:spcPts val="0"/>
              </a:spcAft>
              <a:buNone/>
            </a:pPr>
            <a:r>
              <a:rPr lang="en" sz="1200"/>
              <a:t> (3-gram)(4-gram)(5-gram)</a:t>
            </a:r>
            <a:endParaRPr sz="1200"/>
          </a:p>
          <a:p>
            <a:pPr indent="0" lvl="0" marL="1435100" rtl="0" algn="l">
              <a:lnSpc>
                <a:spcPct val="90000"/>
              </a:lnSpc>
              <a:spcBef>
                <a:spcPts val="400"/>
              </a:spcBef>
              <a:spcAft>
                <a:spcPts val="0"/>
              </a:spcAft>
              <a:buNone/>
            </a:pPr>
            <a:r>
              <a:rPr lang="en" sz="1200"/>
              <a:t>     │            │            │</a:t>
            </a:r>
            <a:endParaRPr sz="1200"/>
          </a:p>
          <a:p>
            <a:pPr indent="0" lvl="0" marL="1435100" rtl="0" algn="l">
              <a:lnSpc>
                <a:spcPct val="90000"/>
              </a:lnSpc>
              <a:spcBef>
                <a:spcPts val="400"/>
              </a:spcBef>
              <a:spcAft>
                <a:spcPts val="0"/>
              </a:spcAft>
              <a:buNone/>
            </a:pPr>
            <a:r>
              <a:rPr lang="en" sz="1200"/>
              <a:t>    ▼           ▼           ▼</a:t>
            </a:r>
            <a:endParaRPr sz="1200"/>
          </a:p>
          <a:p>
            <a:pPr indent="0" lvl="0" marL="1435100" rtl="0" algn="l">
              <a:lnSpc>
                <a:spcPct val="90000"/>
              </a:lnSpc>
              <a:spcBef>
                <a:spcPts val="400"/>
              </a:spcBef>
              <a:spcAft>
                <a:spcPts val="0"/>
              </a:spcAft>
              <a:buNone/>
            </a:pPr>
            <a:r>
              <a:rPr lang="en" sz="1200"/>
              <a:t> MaxPool MaxPool MaxPool</a:t>
            </a:r>
            <a:endParaRPr sz="1200"/>
          </a:p>
          <a:p>
            <a:pPr indent="0" lvl="0" marL="1435100" rtl="0" algn="l">
              <a:lnSpc>
                <a:spcPct val="90000"/>
              </a:lnSpc>
              <a:spcBef>
                <a:spcPts val="400"/>
              </a:spcBef>
              <a:spcAft>
                <a:spcPts val="0"/>
              </a:spcAft>
              <a:buNone/>
            </a:pPr>
            <a:r>
              <a:rPr lang="en" sz="1200"/>
              <a:t>    └──────┼──────┘</a:t>
            </a:r>
            <a:endParaRPr sz="1200"/>
          </a:p>
          <a:p>
            <a:pPr indent="0" lvl="0" marL="1435100" rtl="0" algn="l">
              <a:lnSpc>
                <a:spcPct val="90000"/>
              </a:lnSpc>
              <a:spcBef>
                <a:spcPts val="400"/>
              </a:spcBef>
              <a:spcAft>
                <a:spcPts val="0"/>
              </a:spcAft>
              <a:buNone/>
            </a:pPr>
            <a:r>
              <a:rPr lang="en" sz="1200"/>
              <a:t>                     ▼</a:t>
            </a:r>
            <a:endParaRPr sz="1200"/>
          </a:p>
          <a:p>
            <a:pPr indent="0" lvl="0" marL="1435100" rtl="0" algn="l">
              <a:lnSpc>
                <a:spcPct val="90000"/>
              </a:lnSpc>
              <a:spcBef>
                <a:spcPts val="400"/>
              </a:spcBef>
              <a:spcAft>
                <a:spcPts val="0"/>
              </a:spcAft>
              <a:buNone/>
            </a:pPr>
            <a:r>
              <a:rPr lang="en" sz="1200"/>
              <a:t>       Fully Connected</a:t>
            </a:r>
            <a:endParaRPr sz="1200"/>
          </a:p>
          <a:p>
            <a:pPr indent="0" lvl="0" marL="1435100" rtl="0" algn="l">
              <a:lnSpc>
                <a:spcPct val="90000"/>
              </a:lnSpc>
              <a:spcBef>
                <a:spcPts val="400"/>
              </a:spcBef>
              <a:spcAft>
                <a:spcPts val="0"/>
              </a:spcAft>
              <a:buNone/>
            </a:pPr>
            <a:r>
              <a:rPr lang="en" sz="1200"/>
              <a:t>                      ↓</a:t>
            </a:r>
            <a:endParaRPr sz="1200"/>
          </a:p>
          <a:p>
            <a:pPr indent="0" lvl="0" marL="1435100" rtl="0" algn="l">
              <a:lnSpc>
                <a:spcPct val="90000"/>
              </a:lnSpc>
              <a:spcBef>
                <a:spcPts val="400"/>
              </a:spcBef>
              <a:spcAft>
                <a:spcPts val="0"/>
              </a:spcAft>
              <a:buNone/>
            </a:pPr>
            <a:r>
              <a:rPr lang="en" sz="1200"/>
              <a:t>          Classification:</a:t>
            </a:r>
            <a:endParaRPr sz="1200"/>
          </a:p>
          <a:p>
            <a:pPr indent="0" lvl="0" marL="914400" rtl="0" algn="l">
              <a:lnSpc>
                <a:spcPct val="90000"/>
              </a:lnSpc>
              <a:spcBef>
                <a:spcPts val="400"/>
              </a:spcBef>
              <a:spcAft>
                <a:spcPts val="0"/>
              </a:spcAft>
              <a:buNone/>
            </a:pPr>
            <a:r>
              <a:rPr lang="en" sz="1200"/>
              <a:t>       [Bug Description | Reproduction Step]</a:t>
            </a:r>
            <a:endParaRPr sz="1200"/>
          </a:p>
          <a:p>
            <a:pPr indent="0" lvl="0" marL="914400" rtl="0" algn="l">
              <a:lnSpc>
                <a:spcPct val="90000"/>
              </a:lnSpc>
              <a:spcBef>
                <a:spcPts val="400"/>
              </a:spcBef>
              <a:spcAft>
                <a:spcPts val="0"/>
              </a:spcAft>
              <a:buNone/>
            </a:pPr>
            <a:r>
              <a:t/>
            </a:r>
            <a:endParaRPr sz="1200"/>
          </a:p>
        </p:txBody>
      </p:sp>
      <p:sp>
        <p:nvSpPr>
          <p:cNvPr id="292" name="Google Shape;292;p45"/>
          <p:cNvSpPr txBox="1"/>
          <p:nvPr>
            <p:ph idx="12" type="sldNum"/>
          </p:nvPr>
        </p:nvSpPr>
        <p:spPr>
          <a:xfrm>
            <a:off x="6715602"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6"/>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Appendix (Terminologies)</a:t>
            </a:r>
            <a:endParaRPr/>
          </a:p>
        </p:txBody>
      </p:sp>
      <p:sp>
        <p:nvSpPr>
          <p:cNvPr id="298" name="Google Shape;298;p46"/>
          <p:cNvSpPr txBox="1"/>
          <p:nvPr>
            <p:ph idx="1" type="body"/>
          </p:nvPr>
        </p:nvSpPr>
        <p:spPr>
          <a:xfrm>
            <a:off x="544243" y="791308"/>
            <a:ext cx="7971000" cy="3841500"/>
          </a:xfrm>
          <a:prstGeom prst="rect">
            <a:avLst/>
          </a:prstGeom>
          <a:noFill/>
          <a:ln>
            <a:noFill/>
          </a:ln>
        </p:spPr>
        <p:txBody>
          <a:bodyPr anchorCtr="0" anchor="t" bIns="34275" lIns="68575" spcFirstLastPara="1" rIns="68575" wrap="square" tIns="34275">
            <a:normAutofit/>
          </a:bodyPr>
          <a:lstStyle/>
          <a:p>
            <a:pPr indent="-203200" lvl="2" marL="863600" rtl="0" algn="l">
              <a:lnSpc>
                <a:spcPct val="90000"/>
              </a:lnSpc>
              <a:spcBef>
                <a:spcPts val="400"/>
              </a:spcBef>
              <a:spcAft>
                <a:spcPts val="0"/>
              </a:spcAft>
              <a:buSzPts val="1800"/>
              <a:buChar char="•"/>
            </a:pPr>
            <a:r>
              <a:rPr b="1" lang="en" sz="1800"/>
              <a:t>Word2Vec (Continuous Bag of Words)</a:t>
            </a:r>
            <a:endParaRPr b="1" sz="1800"/>
          </a:p>
          <a:p>
            <a:pPr indent="-184150" lvl="2" marL="863600" rtl="0" algn="l">
              <a:lnSpc>
                <a:spcPct val="90000"/>
              </a:lnSpc>
              <a:spcBef>
                <a:spcPts val="400"/>
              </a:spcBef>
              <a:spcAft>
                <a:spcPts val="0"/>
              </a:spcAft>
              <a:buSzPts val="1500"/>
              <a:buChar char="•"/>
            </a:pPr>
            <a:r>
              <a:rPr lang="en"/>
              <a:t>Learns dense vector representations of words</a:t>
            </a:r>
            <a:endParaRPr/>
          </a:p>
          <a:p>
            <a:pPr indent="-184150" lvl="2" marL="863600" rtl="0" algn="l">
              <a:lnSpc>
                <a:spcPct val="90000"/>
              </a:lnSpc>
              <a:spcBef>
                <a:spcPts val="400"/>
              </a:spcBef>
              <a:spcAft>
                <a:spcPts val="0"/>
              </a:spcAft>
              <a:buSzPts val="1500"/>
              <a:buChar char="•"/>
            </a:pPr>
            <a:r>
              <a:rPr lang="en"/>
              <a:t>Pre-trained on bug report corpus (100 dimensions)</a:t>
            </a:r>
            <a:endParaRPr/>
          </a:p>
          <a:p>
            <a:pPr indent="-184150" lvl="2" marL="863600" rtl="0" algn="l">
              <a:lnSpc>
                <a:spcPct val="90000"/>
              </a:lnSpc>
              <a:spcBef>
                <a:spcPts val="400"/>
              </a:spcBef>
              <a:spcAft>
                <a:spcPts val="0"/>
              </a:spcAft>
              <a:buSzPts val="1500"/>
              <a:buChar char="•"/>
            </a:pPr>
            <a:r>
              <a:rPr lang="en"/>
              <a:t>Captures semantic relationships: `crash ≈ terminate ≈ close`</a:t>
            </a:r>
            <a:endParaRPr/>
          </a:p>
          <a:p>
            <a:pPr indent="0" lvl="0" marL="0" rtl="0" algn="l">
              <a:lnSpc>
                <a:spcPct val="90000"/>
              </a:lnSpc>
              <a:spcBef>
                <a:spcPts val="400"/>
              </a:spcBef>
              <a:spcAft>
                <a:spcPts val="0"/>
              </a:spcAft>
              <a:buNone/>
            </a:pPr>
            <a:r>
              <a:t/>
            </a:r>
            <a:endParaRPr sz="1200"/>
          </a:p>
          <a:p>
            <a:pPr indent="0" lvl="0" marL="914400" rtl="0" algn="l">
              <a:lnSpc>
                <a:spcPct val="90000"/>
              </a:lnSpc>
              <a:spcBef>
                <a:spcPts val="400"/>
              </a:spcBef>
              <a:spcAft>
                <a:spcPts val="0"/>
              </a:spcAft>
              <a:buNone/>
            </a:pPr>
            <a:r>
              <a:rPr lang="en" sz="1400"/>
              <a:t>Dynamic Time Warping (DTW)</a:t>
            </a:r>
            <a:endParaRPr sz="1400"/>
          </a:p>
          <a:p>
            <a:pPr indent="0" lvl="0" marL="914400" rtl="0" algn="l">
              <a:lnSpc>
                <a:spcPct val="90000"/>
              </a:lnSpc>
              <a:spcBef>
                <a:spcPts val="400"/>
              </a:spcBef>
              <a:spcAft>
                <a:spcPts val="0"/>
              </a:spcAft>
              <a:buNone/>
            </a:pPr>
            <a:r>
              <a:rPr lang="en" sz="1200"/>
              <a:t>- Measures similarity between </a:t>
            </a:r>
            <a:r>
              <a:rPr b="1" lang="en" sz="1200"/>
              <a:t>sequences</a:t>
            </a:r>
            <a:r>
              <a:rPr lang="en" sz="1200"/>
              <a:t> of reproduction steps</a:t>
            </a:r>
            <a:endParaRPr sz="1200"/>
          </a:p>
          <a:p>
            <a:pPr indent="0" lvl="0" marL="914400" rtl="0" algn="l">
              <a:lnSpc>
                <a:spcPct val="90000"/>
              </a:lnSpc>
              <a:spcBef>
                <a:spcPts val="400"/>
              </a:spcBef>
              <a:spcAft>
                <a:spcPts val="0"/>
              </a:spcAft>
              <a:buNone/>
            </a:pPr>
            <a:r>
              <a:rPr lang="en" sz="1200"/>
              <a:t>- Handles variable-length step lists</a:t>
            </a:r>
            <a:endParaRPr sz="1200"/>
          </a:p>
          <a:p>
            <a:pPr indent="0" lvl="0" marL="914400" rtl="0" algn="l">
              <a:lnSpc>
                <a:spcPct val="90000"/>
              </a:lnSpc>
              <a:spcBef>
                <a:spcPts val="400"/>
              </a:spcBef>
              <a:spcAft>
                <a:spcPts val="0"/>
              </a:spcAft>
              <a:buNone/>
            </a:pPr>
            <a:r>
              <a:rPr lang="en" sz="1200"/>
              <a:t>- Aligns steps optimally across two reports</a:t>
            </a:r>
            <a:endParaRPr sz="1200"/>
          </a:p>
          <a:p>
            <a:pPr indent="0" lvl="0" marL="0" rtl="0" algn="l">
              <a:lnSpc>
                <a:spcPct val="90000"/>
              </a:lnSpc>
              <a:spcBef>
                <a:spcPts val="400"/>
              </a:spcBef>
              <a:spcAft>
                <a:spcPts val="0"/>
              </a:spcAft>
              <a:buNone/>
            </a:pPr>
            <a:r>
              <a:t/>
            </a:r>
            <a:endParaRPr sz="1200"/>
          </a:p>
          <a:p>
            <a:pPr indent="0" lvl="0" marL="914400" rtl="0" algn="l">
              <a:lnSpc>
                <a:spcPct val="90000"/>
              </a:lnSpc>
              <a:spcBef>
                <a:spcPts val="400"/>
              </a:spcBef>
              <a:spcAft>
                <a:spcPts val="0"/>
              </a:spcAft>
              <a:buNone/>
            </a:pPr>
            <a:r>
              <a:rPr lang="en" sz="1200"/>
              <a:t>Report A: [Step1, Step2, Step3]</a:t>
            </a:r>
            <a:endParaRPr sz="1200"/>
          </a:p>
          <a:p>
            <a:pPr indent="0" lvl="0" marL="914400" rtl="0" algn="l">
              <a:lnSpc>
                <a:spcPct val="90000"/>
              </a:lnSpc>
              <a:spcBef>
                <a:spcPts val="400"/>
              </a:spcBef>
              <a:spcAft>
                <a:spcPts val="0"/>
              </a:spcAft>
              <a:buNone/>
            </a:pPr>
            <a:r>
              <a:rPr lang="en" sz="1200"/>
              <a:t>Report B: [Step1, Step3, Step4, Step5]</a:t>
            </a:r>
            <a:endParaRPr sz="1200"/>
          </a:p>
          <a:p>
            <a:pPr indent="0" lvl="0" marL="914400" rtl="0" algn="l">
              <a:lnSpc>
                <a:spcPct val="90000"/>
              </a:lnSpc>
              <a:spcBef>
                <a:spcPts val="400"/>
              </a:spcBef>
              <a:spcAft>
                <a:spcPts val="0"/>
              </a:spcAft>
              <a:buNone/>
            </a:pPr>
            <a:r>
              <a:rPr lang="en" sz="1200"/>
              <a:t>              ↓</a:t>
            </a:r>
            <a:endParaRPr sz="1200"/>
          </a:p>
          <a:p>
            <a:pPr indent="0" lvl="0" marL="914400" rtl="0" algn="l">
              <a:lnSpc>
                <a:spcPct val="90000"/>
              </a:lnSpc>
              <a:spcBef>
                <a:spcPts val="400"/>
              </a:spcBef>
              <a:spcAft>
                <a:spcPts val="0"/>
              </a:spcAft>
              <a:buNone/>
            </a:pPr>
            <a:r>
              <a:rPr lang="en" sz="1200"/>
              <a:t>DTW finds optimal alignment → Distance score</a:t>
            </a:r>
            <a:endParaRPr sz="1200"/>
          </a:p>
        </p:txBody>
      </p:sp>
      <p:sp>
        <p:nvSpPr>
          <p:cNvPr id="299" name="Google Shape;299;p46"/>
          <p:cNvSpPr txBox="1"/>
          <p:nvPr>
            <p:ph idx="12" type="sldNum"/>
          </p:nvPr>
        </p:nvSpPr>
        <p:spPr>
          <a:xfrm>
            <a:off x="6715602"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47"/>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Appendix (Terminologies)</a:t>
            </a:r>
            <a:endParaRPr/>
          </a:p>
        </p:txBody>
      </p:sp>
      <p:sp>
        <p:nvSpPr>
          <p:cNvPr id="305" name="Google Shape;305;p47"/>
          <p:cNvSpPr txBox="1"/>
          <p:nvPr>
            <p:ph idx="1" type="body"/>
          </p:nvPr>
        </p:nvSpPr>
        <p:spPr>
          <a:xfrm>
            <a:off x="544243" y="791308"/>
            <a:ext cx="7971000" cy="3841500"/>
          </a:xfrm>
          <a:prstGeom prst="rect">
            <a:avLst/>
          </a:prstGeom>
          <a:noFill/>
          <a:ln>
            <a:noFill/>
          </a:ln>
        </p:spPr>
        <p:txBody>
          <a:bodyPr anchorCtr="0" anchor="t" bIns="34275" lIns="68575" spcFirstLastPara="1" rIns="68575" wrap="square" tIns="34275">
            <a:normAutofit fontScale="92500" lnSpcReduction="20000"/>
          </a:bodyPr>
          <a:lstStyle/>
          <a:p>
            <a:pPr indent="0" lvl="0" marL="914400" rtl="0" algn="l">
              <a:lnSpc>
                <a:spcPct val="90000"/>
              </a:lnSpc>
              <a:spcBef>
                <a:spcPts val="400"/>
              </a:spcBef>
              <a:spcAft>
                <a:spcPts val="0"/>
              </a:spcAft>
              <a:buNone/>
            </a:pPr>
            <a:r>
              <a:rPr b="1" lang="en" sz="1400"/>
              <a:t>UI Structure Similarity with APTED</a:t>
            </a:r>
            <a:endParaRPr sz="1800"/>
          </a:p>
          <a:p>
            <a:pPr indent="0" lvl="0" marL="914400" rtl="0" algn="l">
              <a:lnSpc>
                <a:spcPct val="90000"/>
              </a:lnSpc>
              <a:spcBef>
                <a:spcPts val="400"/>
              </a:spcBef>
              <a:spcAft>
                <a:spcPts val="0"/>
              </a:spcAft>
              <a:buNone/>
            </a:pPr>
            <a:r>
              <a:rPr lang="en" sz="1200"/>
              <a:t>What Are Structure Features?</a:t>
            </a:r>
            <a:endParaRPr sz="1200"/>
          </a:p>
          <a:p>
            <a:pPr indent="0" lvl="0" marL="914400" rtl="0" algn="l">
              <a:lnSpc>
                <a:spcPct val="90000"/>
              </a:lnSpc>
              <a:spcBef>
                <a:spcPts val="400"/>
              </a:spcBef>
              <a:spcAft>
                <a:spcPts val="0"/>
              </a:spcAft>
              <a:buNone/>
            </a:pPr>
            <a:r>
              <a:rPr lang="en" sz="1200"/>
              <a:t>- Android UI layouts represented as XML trees</a:t>
            </a:r>
            <a:endParaRPr sz="1200"/>
          </a:p>
          <a:p>
            <a:pPr indent="0" lvl="0" marL="914400" rtl="0" algn="l">
              <a:lnSpc>
                <a:spcPct val="90000"/>
              </a:lnSpc>
              <a:spcBef>
                <a:spcPts val="400"/>
              </a:spcBef>
              <a:spcAft>
                <a:spcPts val="0"/>
              </a:spcAft>
              <a:buNone/>
            </a:pPr>
            <a:r>
              <a:rPr lang="en" sz="1200"/>
              <a:t>- Capture hierarchical structure of screens</a:t>
            </a:r>
            <a:endParaRPr sz="1200"/>
          </a:p>
          <a:p>
            <a:pPr indent="0" lvl="0" marL="914400" rtl="0" algn="l">
              <a:lnSpc>
                <a:spcPct val="90000"/>
              </a:lnSpc>
              <a:spcBef>
                <a:spcPts val="400"/>
              </a:spcBef>
              <a:spcAft>
                <a:spcPts val="0"/>
              </a:spcAft>
              <a:buNone/>
            </a:pPr>
            <a:r>
              <a:t/>
            </a:r>
            <a:endParaRPr sz="1800"/>
          </a:p>
          <a:p>
            <a:pPr indent="0" lvl="0" marL="914400" rtl="0" algn="l">
              <a:lnSpc>
                <a:spcPct val="90000"/>
              </a:lnSpc>
              <a:spcBef>
                <a:spcPts val="400"/>
              </a:spcBef>
              <a:spcAft>
                <a:spcPts val="0"/>
              </a:spcAft>
              <a:buNone/>
            </a:pPr>
            <a:r>
              <a:rPr b="1" lang="en" sz="1400"/>
              <a:t>APTED Algorithm</a:t>
            </a:r>
            <a:endParaRPr b="1" sz="1400"/>
          </a:p>
          <a:p>
            <a:pPr indent="0" lvl="0" marL="914400" rtl="0" algn="l">
              <a:lnSpc>
                <a:spcPct val="90000"/>
              </a:lnSpc>
              <a:spcBef>
                <a:spcPts val="400"/>
              </a:spcBef>
              <a:spcAft>
                <a:spcPts val="0"/>
              </a:spcAft>
              <a:buNone/>
            </a:pPr>
            <a:r>
              <a:rPr lang="en" sz="1200"/>
              <a:t>- All Path Tree Edit Distance</a:t>
            </a:r>
            <a:endParaRPr sz="1200"/>
          </a:p>
          <a:p>
            <a:pPr indent="0" lvl="0" marL="914400" rtl="0" algn="l">
              <a:lnSpc>
                <a:spcPct val="90000"/>
              </a:lnSpc>
              <a:spcBef>
                <a:spcPts val="400"/>
              </a:spcBef>
              <a:spcAft>
                <a:spcPts val="0"/>
              </a:spcAft>
              <a:buNone/>
            </a:pPr>
            <a:r>
              <a:rPr lang="en" sz="1200"/>
              <a:t>- Computes minimum edit operations to transform one tree to another</a:t>
            </a:r>
            <a:endParaRPr sz="1200"/>
          </a:p>
          <a:p>
            <a:pPr indent="0" lvl="0" marL="914400" rtl="0" algn="l">
              <a:lnSpc>
                <a:spcPct val="90000"/>
              </a:lnSpc>
              <a:spcBef>
                <a:spcPts val="400"/>
              </a:spcBef>
              <a:spcAft>
                <a:spcPts val="0"/>
              </a:spcAft>
              <a:buNone/>
            </a:pPr>
            <a:r>
              <a:rPr lang="en" sz="1200"/>
              <a:t>- Operations: Insert, Delete, Rename nodes</a:t>
            </a:r>
            <a:endParaRPr sz="1200"/>
          </a:p>
          <a:p>
            <a:pPr indent="0" lvl="0" marL="914400" rtl="0" algn="l">
              <a:lnSpc>
                <a:spcPct val="90000"/>
              </a:lnSpc>
              <a:spcBef>
                <a:spcPts val="400"/>
              </a:spcBef>
              <a:spcAft>
                <a:spcPts val="0"/>
              </a:spcAft>
              <a:buNone/>
            </a:pPr>
            <a:r>
              <a:t/>
            </a:r>
            <a:endParaRPr sz="1200"/>
          </a:p>
          <a:p>
            <a:pPr indent="0" lvl="0" marL="914400" rtl="0" algn="l">
              <a:lnSpc>
                <a:spcPct val="90000"/>
              </a:lnSpc>
              <a:spcBef>
                <a:spcPts val="400"/>
              </a:spcBef>
              <a:spcAft>
                <a:spcPts val="0"/>
              </a:spcAft>
              <a:buNone/>
            </a:pPr>
            <a:r>
              <a:rPr b="1" lang="en" sz="1200"/>
              <a:t>Example</a:t>
            </a:r>
            <a:endParaRPr b="1" sz="1200"/>
          </a:p>
          <a:p>
            <a:pPr indent="0" lvl="0" marL="914400" rtl="0" algn="l">
              <a:lnSpc>
                <a:spcPct val="90000"/>
              </a:lnSpc>
              <a:spcBef>
                <a:spcPts val="400"/>
              </a:spcBef>
              <a:spcAft>
                <a:spcPts val="0"/>
              </a:spcAft>
              <a:buNone/>
            </a:pPr>
            <a:r>
              <a:t/>
            </a:r>
            <a:endParaRPr b="1" sz="1200"/>
          </a:p>
          <a:p>
            <a:pPr indent="0" lvl="0" marL="914400" rtl="0" algn="l">
              <a:lnSpc>
                <a:spcPct val="90000"/>
              </a:lnSpc>
              <a:spcBef>
                <a:spcPts val="400"/>
              </a:spcBef>
              <a:spcAft>
                <a:spcPts val="0"/>
              </a:spcAft>
              <a:buNone/>
            </a:pPr>
            <a:r>
              <a:rPr b="1" lang="en" sz="1200"/>
              <a:t>xml</a:t>
            </a:r>
            <a:endParaRPr b="1" sz="1200"/>
          </a:p>
          <a:p>
            <a:pPr indent="0" lvl="0" marL="914400" rtl="0" algn="l">
              <a:lnSpc>
                <a:spcPct val="90000"/>
              </a:lnSpc>
              <a:spcBef>
                <a:spcPts val="400"/>
              </a:spcBef>
              <a:spcAft>
                <a:spcPts val="0"/>
              </a:spcAft>
              <a:buNone/>
            </a:pPr>
            <a:r>
              <a:rPr lang="en" sz="1200"/>
              <a:t>&lt;!-- Report A Layout --&gt;          &lt;!-- Report B Layout --&gt;</a:t>
            </a:r>
            <a:endParaRPr sz="1200"/>
          </a:p>
          <a:p>
            <a:pPr indent="0" lvl="0" marL="914400" rtl="0" algn="l">
              <a:lnSpc>
                <a:spcPct val="90000"/>
              </a:lnSpc>
              <a:spcBef>
                <a:spcPts val="400"/>
              </a:spcBef>
              <a:spcAft>
                <a:spcPts val="0"/>
              </a:spcAft>
              <a:buNone/>
            </a:pPr>
            <a:r>
              <a:rPr lang="en" sz="1200"/>
              <a:t>&lt;LinearLayout&gt;                    &lt;LinearLayout&gt;</a:t>
            </a:r>
            <a:endParaRPr sz="1200"/>
          </a:p>
          <a:p>
            <a:pPr indent="0" lvl="0" marL="914400" rtl="0" algn="l">
              <a:lnSpc>
                <a:spcPct val="90000"/>
              </a:lnSpc>
              <a:spcBef>
                <a:spcPts val="400"/>
              </a:spcBef>
              <a:spcAft>
                <a:spcPts val="0"/>
              </a:spcAft>
              <a:buNone/>
            </a:pPr>
            <a:r>
              <a:rPr lang="en" sz="1200"/>
              <a:t>  &lt;Button id="login"/&gt;              &lt;Button id="login"/&gt;</a:t>
            </a:r>
            <a:endParaRPr sz="1200"/>
          </a:p>
          <a:p>
            <a:pPr indent="0" lvl="0" marL="914400" rtl="0" algn="l">
              <a:lnSpc>
                <a:spcPct val="90000"/>
              </a:lnSpc>
              <a:spcBef>
                <a:spcPts val="400"/>
              </a:spcBef>
              <a:spcAft>
                <a:spcPts val="0"/>
              </a:spcAft>
              <a:buNone/>
            </a:pPr>
            <a:r>
              <a:rPr lang="en" sz="1200"/>
              <a:t>  &lt;TextView id="error"/&gt;            &lt;ImageView id="logo"/&gt;</a:t>
            </a:r>
            <a:endParaRPr sz="1200"/>
          </a:p>
          <a:p>
            <a:pPr indent="0" lvl="0" marL="914400" rtl="0" algn="l">
              <a:lnSpc>
                <a:spcPct val="90000"/>
              </a:lnSpc>
              <a:spcBef>
                <a:spcPts val="400"/>
              </a:spcBef>
              <a:spcAft>
                <a:spcPts val="0"/>
              </a:spcAft>
              <a:buNone/>
            </a:pPr>
            <a:r>
              <a:rPr lang="en" sz="1200"/>
              <a:t>  &lt;EditText id="password"/&gt;         &lt;EditText id="password"/&gt;</a:t>
            </a:r>
            <a:endParaRPr sz="1200"/>
          </a:p>
          <a:p>
            <a:pPr indent="0" lvl="0" marL="914400" rtl="0" algn="l">
              <a:lnSpc>
                <a:spcPct val="90000"/>
              </a:lnSpc>
              <a:spcBef>
                <a:spcPts val="400"/>
              </a:spcBef>
              <a:spcAft>
                <a:spcPts val="0"/>
              </a:spcAft>
              <a:buNone/>
            </a:pPr>
            <a:r>
              <a:rPr lang="en" sz="1200"/>
              <a:t>&lt;/LinearLayout&gt;                   &lt;/LinearLayout&gt;</a:t>
            </a:r>
            <a:endParaRPr sz="1200"/>
          </a:p>
          <a:p>
            <a:pPr indent="0" lvl="0" marL="914400" rtl="0" algn="l">
              <a:lnSpc>
                <a:spcPct val="90000"/>
              </a:lnSpc>
              <a:spcBef>
                <a:spcPts val="400"/>
              </a:spcBef>
              <a:spcAft>
                <a:spcPts val="0"/>
              </a:spcAft>
              <a:buNone/>
            </a:pPr>
            <a:r>
              <a:t/>
            </a:r>
            <a:endParaRPr sz="1200"/>
          </a:p>
          <a:p>
            <a:pPr indent="0" lvl="0" marL="914400" rtl="0" algn="l">
              <a:lnSpc>
                <a:spcPct val="90000"/>
              </a:lnSpc>
              <a:spcBef>
                <a:spcPts val="400"/>
              </a:spcBef>
              <a:spcAft>
                <a:spcPts val="0"/>
              </a:spcAft>
              <a:buNone/>
            </a:pPr>
            <a:r>
              <a:rPr lang="en" sz="1200"/>
              <a:t>Edit Distance = 2 (Delete TextView, Insert ImageView)</a:t>
            </a:r>
            <a:endParaRPr sz="1200"/>
          </a:p>
          <a:p>
            <a:pPr indent="0" lvl="0" marL="914400" rtl="0" algn="l">
              <a:lnSpc>
                <a:spcPct val="90000"/>
              </a:lnSpc>
              <a:spcBef>
                <a:spcPts val="400"/>
              </a:spcBef>
              <a:spcAft>
                <a:spcPts val="0"/>
              </a:spcAft>
              <a:buNone/>
            </a:pPr>
            <a:r>
              <a:t/>
            </a:r>
            <a:endParaRPr sz="1200"/>
          </a:p>
        </p:txBody>
      </p:sp>
      <p:sp>
        <p:nvSpPr>
          <p:cNvPr id="306" name="Google Shape;306;p47"/>
          <p:cNvSpPr txBox="1"/>
          <p:nvPr>
            <p:ph idx="12" type="sldNum"/>
          </p:nvPr>
        </p:nvSpPr>
        <p:spPr>
          <a:xfrm>
            <a:off x="6715602"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0" name="Shape 310"/>
        <p:cNvGrpSpPr/>
        <p:nvPr/>
      </p:nvGrpSpPr>
      <p:grpSpPr>
        <a:xfrm>
          <a:off x="0" y="0"/>
          <a:ext cx="0" cy="0"/>
          <a:chOff x="0" y="0"/>
          <a:chExt cx="0" cy="0"/>
        </a:xfrm>
      </p:grpSpPr>
      <p:sp>
        <p:nvSpPr>
          <p:cNvPr id="311" name="Google Shape;311;p48"/>
          <p:cNvSpPr txBox="1"/>
          <p:nvPr>
            <p:ph type="title"/>
          </p:nvPr>
        </p:nvSpPr>
        <p:spPr>
          <a:xfrm>
            <a:off x="544243" y="126133"/>
            <a:ext cx="7886700" cy="359100"/>
          </a:xfrm>
          <a:prstGeom prst="rect">
            <a:avLst/>
          </a:prstGeom>
          <a:noFill/>
          <a:ln>
            <a:noFill/>
          </a:ln>
        </p:spPr>
        <p:txBody>
          <a:bodyPr anchorCtr="0" anchor="ctr" bIns="34275" lIns="68575" spcFirstLastPara="1" rIns="68575" wrap="square" tIns="34275">
            <a:noAutofit/>
          </a:bodyPr>
          <a:lstStyle/>
          <a:p>
            <a:pPr indent="0" lvl="0" marL="0" rtl="0" algn="l">
              <a:lnSpc>
                <a:spcPct val="90000"/>
              </a:lnSpc>
              <a:spcBef>
                <a:spcPts val="0"/>
              </a:spcBef>
              <a:spcAft>
                <a:spcPts val="0"/>
              </a:spcAft>
              <a:buClr>
                <a:schemeClr val="dk1"/>
              </a:buClr>
              <a:buSzPts val="2400"/>
              <a:buFont typeface="Microsoft YaHei"/>
              <a:buNone/>
            </a:pPr>
            <a:r>
              <a:rPr lang="en"/>
              <a:t>Experiments</a:t>
            </a:r>
            <a:endParaRPr/>
          </a:p>
        </p:txBody>
      </p:sp>
      <p:sp>
        <p:nvSpPr>
          <p:cNvPr id="312" name="Google Shape;312;p48"/>
          <p:cNvSpPr txBox="1"/>
          <p:nvPr>
            <p:ph idx="1" type="body"/>
          </p:nvPr>
        </p:nvSpPr>
        <p:spPr>
          <a:xfrm>
            <a:off x="544243" y="791308"/>
            <a:ext cx="7971000" cy="652200"/>
          </a:xfrm>
          <a:prstGeom prst="rect">
            <a:avLst/>
          </a:prstGeom>
          <a:noFill/>
          <a:ln>
            <a:noFill/>
          </a:ln>
        </p:spPr>
        <p:txBody>
          <a:bodyPr anchorCtr="0" anchor="t" bIns="34275" lIns="68575" spcFirstLastPara="1" rIns="68575" wrap="square" tIns="34275">
            <a:noAutofit/>
          </a:bodyPr>
          <a:lstStyle/>
          <a:p>
            <a:pPr indent="-139700" lvl="0" marL="177800" rtl="0" algn="l">
              <a:lnSpc>
                <a:spcPct val="90000"/>
              </a:lnSpc>
              <a:spcBef>
                <a:spcPts val="0"/>
              </a:spcBef>
              <a:spcAft>
                <a:spcPts val="0"/>
              </a:spcAft>
              <a:buClr>
                <a:schemeClr val="dk1"/>
              </a:buClr>
              <a:buSzPts val="1200"/>
              <a:buFont typeface="Noto Sans Symbols"/>
              <a:buChar char="⮚"/>
            </a:pPr>
            <a:r>
              <a:rPr lang="en" sz="1200"/>
              <a:t>The proposed method, was compared against one state-of-the-art (SOTA) baseline and three specific configurations (ablations) designed to verify the effectiveness of the deep features and the semi-supervised approach.</a:t>
            </a:r>
            <a:endParaRPr sz="1500"/>
          </a:p>
        </p:txBody>
      </p:sp>
      <p:sp>
        <p:nvSpPr>
          <p:cNvPr id="313" name="Google Shape;313;p48"/>
          <p:cNvSpPr txBox="1"/>
          <p:nvPr>
            <p:ph idx="12" type="sldNum"/>
          </p:nvPr>
        </p:nvSpPr>
        <p:spPr>
          <a:xfrm>
            <a:off x="6715602" y="4767263"/>
            <a:ext cx="20574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en"/>
              <a:t>‹#›</a:t>
            </a:fld>
            <a:endParaRPr/>
          </a:p>
        </p:txBody>
      </p:sp>
      <p:graphicFrame>
        <p:nvGraphicFramePr>
          <p:cNvPr id="314" name="Google Shape;314;p48"/>
          <p:cNvGraphicFramePr/>
          <p:nvPr/>
        </p:nvGraphicFramePr>
        <p:xfrm>
          <a:off x="704625" y="1611825"/>
          <a:ext cx="3000000" cy="3000000"/>
        </p:xfrm>
        <a:graphic>
          <a:graphicData uri="http://schemas.openxmlformats.org/drawingml/2006/table">
            <a:tbl>
              <a:tblPr>
                <a:noFill/>
                <a:tableStyleId>{2F97E986-E154-4EDB-AE63-72809A1A8B18}</a:tableStyleId>
              </a:tblPr>
              <a:tblGrid>
                <a:gridCol w="1262950"/>
                <a:gridCol w="916825"/>
                <a:gridCol w="5250725"/>
              </a:tblGrid>
              <a:tr h="774625">
                <a:tc>
                  <a:txBody>
                    <a:bodyPr/>
                    <a:lstStyle/>
                    <a:p>
                      <a:pPr indent="0" lvl="0" marL="0" rtl="0" algn="l">
                        <a:spcBef>
                          <a:spcPts val="0"/>
                        </a:spcBef>
                        <a:spcAft>
                          <a:spcPts val="0"/>
                        </a:spcAft>
                        <a:buNone/>
                      </a:pPr>
                      <a:r>
                        <a:rPr lang="en" sz="1050">
                          <a:solidFill>
                            <a:schemeClr val="dk1"/>
                          </a:solidFill>
                          <a:highlight>
                            <a:schemeClr val="lt1"/>
                          </a:highlight>
                        </a:rPr>
                        <a:t>Baselines and Configurations</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Publication Year</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Role</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r>
              <a:tr h="384325">
                <a:tc>
                  <a:txBody>
                    <a:bodyPr/>
                    <a:lstStyle/>
                    <a:p>
                      <a:pPr indent="0" lvl="0" marL="0" rtl="0" algn="l">
                        <a:spcBef>
                          <a:spcPts val="0"/>
                        </a:spcBef>
                        <a:spcAft>
                          <a:spcPts val="0"/>
                        </a:spcAft>
                        <a:buNone/>
                      </a:pPr>
                      <a:r>
                        <a:rPr b="1" lang="en" sz="1050">
                          <a:solidFill>
                            <a:schemeClr val="dk1"/>
                          </a:solidFill>
                          <a:highlight>
                            <a:schemeClr val="lt1"/>
                          </a:highlight>
                        </a:rPr>
                        <a:t>SETU</a:t>
                      </a:r>
                      <a:r>
                        <a:rPr lang="en" sz="1050">
                          <a:solidFill>
                            <a:schemeClr val="dk1"/>
                          </a:solidFill>
                          <a:highlight>
                            <a:schemeClr val="lt1"/>
                          </a:highlight>
                        </a:rPr>
                        <a:t> (Wang et al. (3))</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2019</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State-of-the-Art (SOTA) comparison baseline.</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r>
              <a:tr h="384325">
                <a:tc>
                  <a:txBody>
                    <a:bodyPr/>
                    <a:lstStyle/>
                    <a:p>
                      <a:pPr indent="0" lvl="0" marL="0" rtl="0" algn="l">
                        <a:spcBef>
                          <a:spcPts val="0"/>
                        </a:spcBef>
                        <a:spcAft>
                          <a:spcPts val="0"/>
                        </a:spcAft>
                        <a:buNone/>
                      </a:pPr>
                      <a:r>
                        <a:rPr b="1" lang="en" sz="1050">
                          <a:solidFill>
                            <a:schemeClr val="dk1"/>
                          </a:solidFill>
                          <a:highlight>
                            <a:schemeClr val="lt1"/>
                          </a:highlight>
                        </a:rPr>
                        <a:t>Image</a:t>
                      </a:r>
                      <a:endParaRPr b="1"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N/A</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An ablation configuration using </a:t>
                      </a:r>
                      <a:r>
                        <a:rPr b="1" lang="en" sz="1050">
                          <a:solidFill>
                            <a:schemeClr val="dk1"/>
                          </a:solidFill>
                          <a:highlight>
                            <a:schemeClr val="lt1"/>
                          </a:highlight>
                        </a:rPr>
                        <a:t>only image features</a:t>
                      </a:r>
                      <a:r>
                        <a:rPr lang="en" sz="1050">
                          <a:solidFill>
                            <a:schemeClr val="dk1"/>
                          </a:solidFill>
                          <a:highlight>
                            <a:schemeClr val="lt1"/>
                          </a:highlight>
                        </a:rPr>
                        <a:t> (Structural Feature and Content Feature).</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r>
              <a:tr h="384325">
                <a:tc>
                  <a:txBody>
                    <a:bodyPr/>
                    <a:lstStyle/>
                    <a:p>
                      <a:pPr indent="0" lvl="0" marL="0" rtl="0" algn="l">
                        <a:spcBef>
                          <a:spcPts val="0"/>
                        </a:spcBef>
                        <a:spcAft>
                          <a:spcPts val="0"/>
                        </a:spcAft>
                        <a:buNone/>
                      </a:pPr>
                      <a:r>
                        <a:rPr b="1" lang="en" sz="1050">
                          <a:solidFill>
                            <a:schemeClr val="dk1"/>
                          </a:solidFill>
                          <a:highlight>
                            <a:schemeClr val="lt1"/>
                          </a:highlight>
                        </a:rPr>
                        <a:t>Text</a:t>
                      </a:r>
                      <a:endParaRPr b="1"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N/A</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c>
                  <a:txBody>
                    <a:bodyPr/>
                    <a:lstStyle/>
                    <a:p>
                      <a:pPr indent="0" lvl="0" marL="0" rtl="0" algn="l">
                        <a:spcBef>
                          <a:spcPts val="0"/>
                        </a:spcBef>
                        <a:spcAft>
                          <a:spcPts val="0"/>
                        </a:spcAft>
                        <a:buNone/>
                      </a:pPr>
                      <a:r>
                        <a:rPr lang="en" sz="1050">
                          <a:solidFill>
                            <a:schemeClr val="dk1"/>
                          </a:solidFill>
                          <a:highlight>
                            <a:schemeClr val="lt1"/>
                          </a:highlight>
                        </a:rPr>
                        <a:t>An ablation configuration using </a:t>
                      </a:r>
                      <a:r>
                        <a:rPr b="1" lang="en" sz="1050">
                          <a:solidFill>
                            <a:schemeClr val="dk1"/>
                          </a:solidFill>
                          <a:highlight>
                            <a:schemeClr val="lt1"/>
                          </a:highlight>
                        </a:rPr>
                        <a:t>only text features</a:t>
                      </a:r>
                      <a:r>
                        <a:rPr lang="en" sz="1050">
                          <a:solidFill>
                            <a:schemeClr val="dk1"/>
                          </a:solidFill>
                          <a:highlight>
                            <a:schemeClr val="lt1"/>
                          </a:highlight>
                        </a:rPr>
                        <a:t> (Bug Behavior and Reproduction Step).</a:t>
                      </a:r>
                      <a:endParaRPr sz="1050">
                        <a:solidFill>
                          <a:schemeClr val="dk1"/>
                        </a:solidFill>
                        <a:highlight>
                          <a:schemeClr val="lt1"/>
                        </a:highlight>
                      </a:endParaRPr>
                    </a:p>
                  </a:txBody>
                  <a:tcPr marT="91425" marB="91425" marR="91425" marL="91425">
                    <a:lnL cap="flat" cmpd="sng" w="9525">
                      <a:solidFill>
                        <a:srgbClr val="E8EAED"/>
                      </a:solidFill>
                      <a:prstDash val="solid"/>
                      <a:round/>
                      <a:headEnd len="sm" w="sm" type="none"/>
                      <a:tailEnd len="sm" w="sm" type="none"/>
                    </a:lnL>
                    <a:lnR cap="flat" cmpd="sng" w="9525">
                      <a:solidFill>
                        <a:srgbClr val="E8EAED"/>
                      </a:solidFill>
                      <a:prstDash val="solid"/>
                      <a:round/>
                      <a:headEnd len="sm" w="sm" type="none"/>
                      <a:tailEnd len="sm" w="sm" type="none"/>
                    </a:lnR>
                    <a:lnT cap="flat" cmpd="sng" w="9525">
                      <a:solidFill>
                        <a:srgbClr val="E8EAED"/>
                      </a:solidFill>
                      <a:prstDash val="solid"/>
                      <a:round/>
                      <a:headEnd len="sm" w="sm" type="none"/>
                      <a:tailEnd len="sm" w="sm" type="none"/>
                    </a:lnT>
                    <a:lnB cap="flat" cmpd="sng" w="9525">
                      <a:solidFill>
                        <a:srgbClr val="E8EAED"/>
                      </a:solidFill>
                      <a:prstDash val="solid"/>
                      <a:round/>
                      <a:headEnd len="sm" w="sm" type="none"/>
                      <a:tailEnd len="sm" w="sm" type="none"/>
                    </a:lnB>
                  </a:tcPr>
                </a:tc>
              </a:tr>
            </a:tbl>
          </a:graphicData>
        </a:graphic>
      </p:graphicFrame>
      <p:sp>
        <p:nvSpPr>
          <p:cNvPr id="315" name="Google Shape;315;p48"/>
          <p:cNvSpPr txBox="1"/>
          <p:nvPr/>
        </p:nvSpPr>
        <p:spPr>
          <a:xfrm>
            <a:off x="1888825" y="3980725"/>
            <a:ext cx="4716900" cy="743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None/>
            </a:pPr>
            <a:r>
              <a:rPr lang="en" sz="1100">
                <a:solidFill>
                  <a:schemeClr val="dk1"/>
                </a:solidFill>
              </a:rPr>
              <a:t>E</a:t>
            </a:r>
            <a:r>
              <a:rPr lang="en" sz="1100">
                <a:solidFill>
                  <a:schemeClr val="dk1"/>
                </a:solidFill>
              </a:rPr>
              <a:t>mpirically </a:t>
            </a:r>
            <a:r>
              <a:rPr b="1" lang="en" sz="1100">
                <a:solidFill>
                  <a:schemeClr val="dk1"/>
                </a:solidFill>
              </a:rPr>
              <a:t>demonstrate</a:t>
            </a:r>
            <a:r>
              <a:rPr lang="en" sz="1100">
                <a:solidFill>
                  <a:schemeClr val="dk1"/>
                </a:solidFill>
              </a:rPr>
              <a:t> whether including images as an additional source of information can/cannot enhance the process of retrieving </a:t>
            </a:r>
            <a:r>
              <a:rPr b="1" lang="en" sz="1100">
                <a:solidFill>
                  <a:schemeClr val="dk1"/>
                </a:solidFill>
              </a:rPr>
              <a:t>similar issue reports</a:t>
            </a:r>
            <a:r>
              <a:rPr lang="en" sz="1100">
                <a:solidFill>
                  <a:schemeClr val="dk1"/>
                </a:solidFill>
              </a:rPr>
              <a:t>.</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